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4"/>
  </p:sldMasterIdLst>
  <p:notesMasterIdLst>
    <p:notesMasterId r:id="rId9"/>
  </p:notesMasterIdLst>
  <p:handoutMasterIdLst>
    <p:handoutMasterId r:id="rId10"/>
  </p:handoutMasterIdLst>
  <p:sldIdLst>
    <p:sldId id="256" r:id="rId8"/>
    <p:sldId id="257" r:id="rId7"/>
    <p:sldId id="258" r:id="rId6"/>
    <p:sldId id="259" r:id="rId5"/>
    <p:sldId id="260" r:id="rId15"/>
  </p:sldIdLst>
  <p:sldSz cx="12192000" cy="6858000"/>
  <p:notesSz cx="6858000" cy="9144000"/>
  <p:defaultTextStyle>
    <a:defPPr>
      <a:defRPr lang="en-GB"/>
    </a:defPPr>
    <a:lvl1pPr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Arial" pitchFamily="34" charset="0"/>
        <a:ea typeface="ＭＳ Ｐゴシック" pitchFamily="-80" charset="-128"/>
        <a:cs typeface="+mn-cs"/>
      </a:defRPr>
    </a:lvl5pPr>
    <a:lvl6pPr marL="2286000" algn="l" defTabSz="914400" rtl="0" eaLnBrk="1" latinLnBrk="0" hangingPunct="1">
      <a:defRPr sz="1600" kern="1200">
        <a:solidFill>
          <a:schemeClr val="tx1"/>
        </a:solidFill>
        <a:latin typeface="Arial" pitchFamily="34" charset="0"/>
        <a:ea typeface="ＭＳ Ｐゴシック" pitchFamily="-80" charset="-128"/>
        <a:cs typeface="+mn-cs"/>
      </a:defRPr>
    </a:lvl6pPr>
    <a:lvl7pPr marL="2743200" algn="l" defTabSz="914400" rtl="0" eaLnBrk="1" latinLnBrk="0" hangingPunct="1">
      <a:defRPr sz="1600" kern="1200">
        <a:solidFill>
          <a:schemeClr val="tx1"/>
        </a:solidFill>
        <a:latin typeface="Arial" pitchFamily="34" charset="0"/>
        <a:ea typeface="ＭＳ Ｐゴシック" pitchFamily="-80" charset="-128"/>
        <a:cs typeface="+mn-cs"/>
      </a:defRPr>
    </a:lvl7pPr>
    <a:lvl8pPr marL="3200400" algn="l" defTabSz="914400" rtl="0" eaLnBrk="1" latinLnBrk="0" hangingPunct="1">
      <a:defRPr sz="1600" kern="1200">
        <a:solidFill>
          <a:schemeClr val="tx1"/>
        </a:solidFill>
        <a:latin typeface="Arial" pitchFamily="34" charset="0"/>
        <a:ea typeface="ＭＳ Ｐゴシック" pitchFamily="-80" charset="-128"/>
        <a:cs typeface="+mn-cs"/>
      </a:defRPr>
    </a:lvl8pPr>
    <a:lvl9pPr marL="3657600" algn="l" defTabSz="914400" rtl="0" eaLnBrk="1" latinLnBrk="0" hangingPunct="1">
      <a:defRPr sz="1600" kern="1200">
        <a:solidFill>
          <a:schemeClr val="tx1"/>
        </a:solidFill>
        <a:latin typeface="Arial"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90000"/>
    <a:srgbClr val="000000"/>
    <a:srgbClr val="FFCC00"/>
    <a:srgbClr val="FF6600"/>
    <a:srgbClr val="FF0000"/>
    <a:srgbClr val="FF0099"/>
    <a:srgbClr val="CC3399"/>
    <a:srgbClr val="660066"/>
    <a:srgbClr val="66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5" autoAdjust="0"/>
    <p:restoredTop sz="81797" autoAdjust="0"/>
  </p:normalViewPr>
  <p:slideViewPr>
    <p:cSldViewPr showGuides="1">
      <p:cViewPr varScale="1">
        <p:scale>
          <a:sx n="60" d="100"/>
          <a:sy n="60" d="100"/>
        </p:scale>
        <p:origin x="1327" y="60"/>
      </p:cViewPr>
      <p:guideLst/>
    </p:cSldViewPr>
  </p:slideViewPr>
  <p:notesTextViewPr>
    <p:cViewPr>
      <p:scale>
        <a:sx n="100" d="100"/>
        <a:sy n="100" d="100"/>
      </p:scale>
      <p:origin x="0" y="0"/>
    </p:cViewPr>
  </p:notesTextViewPr>
  <p:notesViewPr>
    <p:cSldViewPr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en-GB" dirty="0">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fld id="{9F1F7C4A-2B31-4E5D-9C10-7A0E4B6D2F88}" type="datetime1">
              <a:rPr lang="en-GB"/>
              <a:t>24/09/2026</a:t>
            </a:fld>
            <a:endParaRPr lang="en-GB"/>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en-GB" dirty="0">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en-GB" smtClean="0">
                <a:latin typeface="Arial" panose="020B0604020202020204" pitchFamily="34" charset="0"/>
              </a:rPr>
              <a:pPr/>
              <a:t>‹#›</a:t>
            </a:fld>
            <a:endParaRPr lang="en-GB" dirty="0">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en-GB" dirty="0"/>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9F1F7C4A-2B31-4E5D-9C10-7A0E4B6D2F88}" type="datetime1">
              <a:rPr lang="en-GB"/>
              <a:t>24/09/2026</a:t>
            </a:fld>
            <a:endParaRPr lang="en-GB"/>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dirty="0" err="1"/>
              <a:t>Click to edit Master text styles</a:t>
            </a:r>
            <a:endParaRPr lang="en-GB" dirty="0"/>
          </a:p>
          <a:p>
            <a:pPr lvl="1"/>
            <a:r>
              <a:rPr lang="en-GB" dirty="0"/>
              <a:t>Second level</a:t>
            </a:r>
            <a:endParaRPr lang="en-GB" dirty="0"/>
          </a:p>
          <a:p>
            <a:pPr lvl="2"/>
            <a:r>
              <a:rPr lang="en-GB" dirty="0"/>
              <a:t>Third level</a:t>
            </a:r>
            <a:endParaRPr lang="en-GB" dirty="0"/>
          </a:p>
          <a:p>
            <a:pPr lvl="3"/>
            <a:r>
              <a:rPr lang="en-GB" dirty="0" err="1"/>
              <a:t>Fourth level</a:t>
            </a:r>
            <a:endParaRPr lang="en-GB" dirty="0"/>
          </a:p>
          <a:p>
            <a:pPr lvl="4"/>
            <a:r>
              <a:rPr lang="en-GB" dirty="0"/>
              <a:t>Fifth level</a:t>
            </a:r>
            <a:endParaRPr lang="en-GB" dirty="0"/>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en-GB"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en-GB" smtClean="0"/>
              <a:pPr/>
              <a:t>‹#›</a:t>
            </a:fld>
            <a:endParaRPr lang="en-GB" dirty="0"/>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One sentence on what the talk is about: raising the level of theory of a reactive machine-learning potential by recomputing labels, and where that 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trained model gives energy and forces in milliseconds instead of hours. That is why they are used for dynamics, screening, and systems too large for DFT. Reactions were the exception: the data sat at equilibrium and a transition state is far from it. The Transition1x paper says it in one sentence. Barriers enter the rate exponentially: 43 meV, chemical accuracy, is a factor of five at room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2022, from this group. Ten thousand reaction paths, every intermediate NEB geometry kept, 9.6 million calculations, at wB97X/6-31G(d). The level was chosen for cost and for compatibility with ANI-1x, not for barrier accuracy. Better levels exist. TRANSITION: So we want those labels at a better level. The obvious way is to run the ten thousand path searches again at that level: hundreds of gradients per search, at a level several times more expensive. Nobody does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 not have to. A dataset is geometries plus labels. The geometries come from the path search, the labels are energy and force at each geometry. Only the labels are tied to the cheap level. So recompute them: one single point per geometry, no new path search. That is how the field raises fidelity. And in 2025 OMol25 did it at full scale: all of Transition1x, same geometries, new labels at wB97M-V/def2-TZVPD, and computed the other way DFT can be run for singlets, unrestricted, which can describe a half-broken bond.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swap a few labels for better ones. How few are enough? RQ1. We trained our own MACE, relabelled under one percent, trained a correction head, tested on 30 unseen reactions against DFT reference paths. Right: swap all labels for ones from a different surface, geometries untouched. Are the geometries still the right ones? RQ2. We took the three OMol25 models, let them search 45 reactions, checked every result with unrestricted DFT and a stability analysis. Both are edits to the same dataset, and both are what the field does today. The rest of the talk is these two experiments.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1"/>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030F4F"/>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en-GB"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en-GB" noProof="0"/>
              <a:t>Click to edit Master subtitle style</a:t>
            </a:r>
            <a:endParaRPr lang="en-GB" noProof="0" dirty="0"/>
          </a:p>
        </p:txBody>
      </p:sp>
      <p:sp>
        <p:nvSpPr>
          <p:cNvPr id="6" name="Date Placeholder 5">
            <a:extLst>
              <a:ext uri="{FF2B5EF4-FFF2-40B4-BE49-F238E27FC236}">
                <a16:creationId xmlns:a16="http://schemas.microsoft.com/office/drawing/2014/main" id="{E58E75EC-EF76-589D-0066-5EFD32568BC1}"/>
              </a:ext>
            </a:extLst>
          </p:cNvPr>
          <p:cNvSpPr>
            <a:spLocks noGrp="1"/>
          </p:cNvSpPr>
          <p:nvPr>
            <p:ph type="dt" sz="half" idx="10"/>
          </p:nvPr>
        </p:nvSpPr>
        <p:spPr/>
        <p:txBody>
          <a:bodyPr/>
          <a:lstStyle/>
          <a:p>
            <a:fld id="{9F1F7C4A-2B31-4E5D-9C10-7A0E4B6D2F88}" type="datetime1">
              <a:rPr lang="en-GB"/>
              <a:t>24/09/2026</a:t>
            </a:fld>
            <a:endParaRPr lang="en-GB"/>
          </a:p>
        </p:txBody>
      </p:sp>
      <p:sp>
        <p:nvSpPr>
          <p:cNvPr id="8" name="Slide Number Placeholder 7">
            <a:extLst>
              <a:ext uri="{FF2B5EF4-FFF2-40B4-BE49-F238E27FC236}">
                <a16:creationId xmlns:a16="http://schemas.microsoft.com/office/drawing/2014/main" id="{4CB2228E-DECD-A1FF-31EB-394A357969E2}"/>
              </a:ext>
            </a:extLst>
          </p:cNvPr>
          <p:cNvSpPr>
            <a:spLocks noGrp="1"/>
          </p:cNvSpPr>
          <p:nvPr>
            <p:ph type="sldNum" sz="quarter" idx="12"/>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en-GB"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en-GB" noProof="0"/>
              <a:t>Click to edit Master subtitle style</a:t>
            </a:r>
            <a:endParaRPr lang="en-GB" noProof="0" dirty="0"/>
          </a:p>
        </p:txBody>
      </p:sp>
      <p:sp>
        <p:nvSpPr>
          <p:cNvPr id="5" name="Date Placeholder 4">
            <a:extLst>
              <a:ext uri="{FF2B5EF4-FFF2-40B4-BE49-F238E27FC236}">
                <a16:creationId xmlns:a16="http://schemas.microsoft.com/office/drawing/2014/main" id="{9C26E83F-35F3-7C0A-C83E-AFDCA346710E}"/>
              </a:ext>
            </a:extLst>
          </p:cNvPr>
          <p:cNvSpPr>
            <a:spLocks noGrp="1"/>
          </p:cNvSpPr>
          <p:nvPr>
            <p:ph type="dt" sz="half" idx="10"/>
          </p:nvPr>
        </p:nvSpPr>
        <p:spPr/>
        <p:txBody>
          <a:bodyPr/>
          <a:lstStyle/>
          <a:p>
            <a:fld id="{9F1F7C4A-2B31-4E5D-9C10-7A0E4B6D2F88}" type="datetime1">
              <a:rPr lang="en-GB"/>
              <a:t>24/09/2026</a:t>
            </a:fld>
            <a:endParaRPr lang="en-GB"/>
          </a:p>
        </p:txBody>
      </p:sp>
      <p:sp>
        <p:nvSpPr>
          <p:cNvPr id="7" name="Slide Number Placeholder 6">
            <a:extLst>
              <a:ext uri="{FF2B5EF4-FFF2-40B4-BE49-F238E27FC236}">
                <a16:creationId xmlns:a16="http://schemas.microsoft.com/office/drawing/2014/main" id="{C812648B-3179-ABFE-F3AA-427613837574}"/>
              </a:ext>
            </a:extLst>
          </p:cNvPr>
          <p:cNvSpPr>
            <a:spLocks noGrp="1"/>
          </p:cNvSpPr>
          <p:nvPr>
            <p:ph type="sldNum" sz="quarter" idx="12"/>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a:xfrm>
            <a:off x="1774800" y="1706400"/>
            <a:ext cx="9312374"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Date Placeholder 9">
            <a:extLst>
              <a:ext uri="{FF2B5EF4-FFF2-40B4-BE49-F238E27FC236}">
                <a16:creationId xmlns:a16="http://schemas.microsoft.com/office/drawing/2014/main" id="{209954EC-B8D9-8075-FC9F-D3764E46CED4}"/>
              </a:ext>
            </a:extLst>
          </p:cNvPr>
          <p:cNvSpPr>
            <a:spLocks noGrp="1"/>
          </p:cNvSpPr>
          <p:nvPr>
            <p:ph type="dt" sz="half" idx="10"/>
          </p:nvPr>
        </p:nvSpPr>
        <p:spPr/>
        <p:txBody>
          <a:bodyPr/>
          <a:lstStyle/>
          <a:p>
            <a:fld id="{9F1F7C4A-2B31-4E5D-9C10-7A0E4B6D2F88}" type="datetime1">
              <a:rPr lang="en-GB"/>
              <a:t>24/09/2026</a:t>
            </a:fld>
            <a:endParaRPr lang="en-GB"/>
          </a:p>
        </p:txBody>
      </p:sp>
      <p:sp>
        <p:nvSpPr>
          <p:cNvPr id="12" name="Slide Number Placeholder 11">
            <a:extLst>
              <a:ext uri="{FF2B5EF4-FFF2-40B4-BE49-F238E27FC236}">
                <a16:creationId xmlns:a16="http://schemas.microsoft.com/office/drawing/2014/main" id="{48AD440C-0797-9C1A-F3D9-3529DA26E350}"/>
              </a:ext>
            </a:extLst>
          </p:cNvPr>
          <p:cNvSpPr>
            <a:spLocks noGrp="1"/>
          </p:cNvSpPr>
          <p:nvPr>
            <p:ph type="sldNum" sz="quarter" idx="12"/>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en-GB"/>
              <a:t>Click to edit Master title style</a:t>
            </a:r>
            <a:endParaRPr lang="en-GB" dirty="0"/>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13775E03-BE23-9277-8686-60549E4E73BE}"/>
              </a:ext>
            </a:extLst>
          </p:cNvPr>
          <p:cNvSpPr>
            <a:spLocks noGrp="1"/>
          </p:cNvSpPr>
          <p:nvPr>
            <p:ph type="dt" sz="half" idx="12"/>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2945711255"/>
      </p:ext>
    </p:extLst>
  </p:cSld>
  <p:clrMapOvr>
    <a:masterClrMapping/>
  </p:clrMapOvr>
  <p:extLst>
    <p:ext uri="{DCECCB84-F9BA-43D5-87BE-67443E8EF086}">
      <p15:sldGuideLst xmlns:p15="http://schemas.microsoft.com/office/powerpoint/2012/main">
        <p15:guide id="1" pos="1118" userDrawn="1">
          <p15:clr>
            <a:srgbClr val="F26B43"/>
          </p15:clr>
        </p15:guide>
        <p15:guide id="2" pos="3896" userDrawn="1">
          <p15:clr>
            <a:srgbClr val="F26B43"/>
          </p15:clr>
        </p15:guide>
        <p15:guide id="3" pos="4205" userDrawn="1">
          <p15:clr>
            <a:srgbClr val="F26B43"/>
          </p15:clr>
        </p15:guide>
        <p15:guide id="4" pos="6984" userDrawn="1">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en-GB"/>
              <a:t>Click to edit Master title style</a:t>
            </a:r>
            <a:endParaRPr lang="en-GB" dirty="0"/>
          </a:p>
        </p:txBody>
      </p:sp>
      <p:sp>
        <p:nvSpPr>
          <p:cNvPr id="3" name="Content Placeholder 2"/>
          <p:cNvSpPr>
            <a:spLocks noGrp="1"/>
          </p:cNvSpPr>
          <p:nvPr>
            <p:ph idx="1"/>
          </p:nvPr>
        </p:nvSpPr>
        <p:spPr>
          <a:xfrm>
            <a:off x="1774726" y="1706328"/>
            <a:ext cx="6048672"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dirty="0"/>
              <a:t>Click the icon to insert a picture</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dirty="0"/>
              <a:t>Click the icon to insert a picture</a:t>
            </a:r>
          </a:p>
          <a:p>
            <a:endParaRPr lang="en-GB" dirty="0"/>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8906AB93-5959-29D5-C0C8-6B37FCF5F141}"/>
              </a:ext>
            </a:extLst>
          </p:cNvPr>
          <p:cNvSpPr>
            <a:spLocks noGrp="1"/>
          </p:cNvSpPr>
          <p:nvPr>
            <p:ph type="dt" sz="half" idx="17"/>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en-GB"/>
              <a:t>Click to edit Master title style</a:t>
            </a:r>
            <a:endParaRPr lang="en-GB" dirty="0"/>
          </a:p>
        </p:txBody>
      </p:sp>
      <p:sp>
        <p:nvSpPr>
          <p:cNvPr id="3" name="Content Placeholder 2"/>
          <p:cNvSpPr>
            <a:spLocks noGrp="1"/>
          </p:cNvSpPr>
          <p:nvPr>
            <p:ph idx="1"/>
          </p:nvPr>
        </p:nvSpPr>
        <p:spPr>
          <a:xfrm>
            <a:off x="4221360" y="1706328"/>
            <a:ext cx="6865740" cy="454557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dirty="0"/>
              <a:t>Click the icon to insert a picture</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dirty="0"/>
              <a:t>Click the icon to insert a picture</a:t>
            </a:r>
          </a:p>
          <a:p>
            <a:endParaRPr lang="en-GB" dirty="0"/>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77445D79-EFF9-98D6-B066-40CEED6C2E2A}"/>
              </a:ext>
            </a:extLst>
          </p:cNvPr>
          <p:cNvSpPr>
            <a:spLocks noGrp="1"/>
          </p:cNvSpPr>
          <p:nvPr>
            <p:ph type="dt" sz="half" idx="17"/>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GB"/>
              <a:t>Click to add title one line</a:t>
            </a:r>
            <a:endParaRPr lang="en-GB" dirty="0"/>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endParaRPr lang="en-GB" dirty="0"/>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a:t>Click to add title one line</a:t>
            </a:r>
            <a:endParaRPr lang="en-GB" dirty="0"/>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dirty="0"/>
              <a:t>Click the icon to insert a picture</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dirty="0"/>
              <a:t>Click the icon to insert a picture</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dirty="0"/>
              <a:t>Click the icon to insert a picture</a:t>
            </a:r>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68CDBA22-AE55-C68A-132F-A826D0B0C740}"/>
              </a:ext>
            </a:extLst>
          </p:cNvPr>
          <p:cNvSpPr>
            <a:spLocks noGrp="1"/>
          </p:cNvSpPr>
          <p:nvPr>
            <p:ph type="dt" sz="half" idx="25"/>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en-GB"/>
              <a:t>Click to edit Master title style</a:t>
            </a:r>
            <a:endParaRPr lang="en-GB" dirty="0"/>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3" name="Date Placeholder 2">
            <a:extLst>
              <a:ext uri="{FF2B5EF4-FFF2-40B4-BE49-F238E27FC236}">
                <a16:creationId xmlns:a16="http://schemas.microsoft.com/office/drawing/2014/main" id="{A2A33A1D-DD6A-46E6-9477-D1471332CB16}"/>
              </a:ext>
            </a:extLst>
          </p:cNvPr>
          <p:cNvSpPr>
            <a:spLocks noGrp="1"/>
          </p:cNvSpPr>
          <p:nvPr>
            <p:ph type="dt" sz="half" idx="12"/>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46E183DE-20D3-DB32-ED9D-43A02E676CAC}"/>
              </a:ext>
            </a:extLst>
          </p:cNvPr>
          <p:cNvSpPr>
            <a:spLocks noGrp="1"/>
          </p:cNvSpPr>
          <p:nvPr>
            <p:ph type="dt" sz="half" idx="12"/>
          </p:nvPr>
        </p:nvSpPr>
        <p:spPr/>
        <p:txBody>
          <a:bodyPr/>
          <a:lstStyle/>
          <a:p>
            <a:fld id="{9F1F7C4A-2B31-4E5D-9C10-7A0E4B6D2F88}" type="datetime1">
              <a:rPr lang="en-GB"/>
              <a:t>24/09/2026</a:t>
            </a:fld>
            <a:endParaRPr lang="en-GB"/>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fld id="{9F1F7C4A-2B31-4E5D-9C10-7A0E4B6D2F88}" type="datetime1">
              <a:rPr lang="en-GB"/>
              <a:t>24/09/2026</a:t>
            </a:fld>
            <a:endParaRPr lang="en-GB"/>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030F4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fld id="{9F1F7C4A-2B31-4E5D-9C10-7A0E4B6D2F88}" type="datetime1">
              <a:rPr lang="en-GB"/>
              <a:t>24/09/2026</a:t>
            </a:fld>
            <a:endParaRPr lang="en-GB"/>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030F4F"/>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030F4F"/>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a:ln>
                <a:noFill/>
              </a:ln>
              <a:solidFill>
                <a:schemeClr val="bg1"/>
              </a:solidFill>
              <a:effectLst/>
              <a:latin typeface="+mn-lt"/>
              <a:ea typeface="ＭＳ Ｐゴシック" pitchFamily="-80" charset="-128"/>
            </a:endParaRPr>
          </a:p>
        </p:txBody>
      </p:sp>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3"/>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030F4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GB"/>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n-lt"/>
              </a:defRPr>
            </a:lvl1pPr>
          </a:lstStyle>
          <a:p>
            <a:fld id="{103EA872-A674-449B-A120-B97244F8E91D}" type="slidenum">
              <a:rPr lang="en-GB" smtClean="0"/>
              <a:pPr/>
              <a:t>‹#›</a:t>
            </a:fld>
            <a:endParaRPr lang="en-GB" dirty="0"/>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en-GB"/>
              <a:t>Click to edit Master title style</a:t>
            </a:r>
            <a:endParaRPr lang="en-GB" dirty="0"/>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3676" name="text"/>
          <p:cNvSpPr>
            <a:spLocks noChangeArrowheads="1"/>
          </p:cNvSpPr>
          <p:nvPr/>
        </p:nvSpPr>
        <p:spPr bwMode="auto">
          <a:xfrm>
            <a:off x="1774726" y="6541200"/>
            <a:ext cx="3397071" cy="31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0"/>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sz="700" b="1" dirty="0">
                <a:solidFill>
                  <a:schemeClr val="bg1"/>
                </a:solidFill>
                <a:latin typeface="+mn-lt"/>
              </a:rPr>
              <a:t>Technical University of Denmark</a:t>
            </a:r>
          </a:p>
        </p:txBody>
      </p:sp>
      <p:sp>
        <p:nvSpPr>
          <p:cNvPr id="6" name="Date Placeholder 5">
            <a:extLst>
              <a:ext uri="{FF2B5EF4-FFF2-40B4-BE49-F238E27FC236}">
                <a16:creationId xmlns:a16="http://schemas.microsoft.com/office/drawing/2014/main" id="{514E9AE0-170F-0C2B-DFF5-DC7F65F4B1FF}"/>
              </a:ext>
            </a:extLst>
          </p:cNvPr>
          <p:cNvSpPr>
            <a:spLocks noGrp="1"/>
          </p:cNvSpPr>
          <p:nvPr>
            <p:ph type="dt" sz="half" idx="2"/>
          </p:nvPr>
        </p:nvSpPr>
        <p:spPr>
          <a:xfrm>
            <a:off x="252000" y="6541200"/>
            <a:ext cx="1105200" cy="316800"/>
          </a:xfrm>
          <a:prstGeom prst="rect">
            <a:avLst/>
          </a:prstGeom>
        </p:spPr>
        <p:txBody>
          <a:bodyPr vert="horz" lIns="0" tIns="0" rIns="0" bIns="0" rtlCol="0" anchor="ctr"/>
          <a:lstStyle>
            <a:lvl1pPr algn="r">
              <a:defRPr sz="700" b="1">
                <a:solidFill>
                  <a:schemeClr val="bg1"/>
                </a:solidFill>
                <a:latin typeface="+mj-lt"/>
              </a:defRPr>
            </a:lvl1pPr>
          </a:lstStyle>
          <a:p>
            <a:fld id="{9F1F7C4A-2B31-4E5D-9C10-7A0E4B6D2F88}" type="datetime1">
              <a:rPr lang="en-GB"/>
              <a:t>24/09/2026</a:t>
            </a:fld>
            <a:endParaRPr lang="en-GB"/>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Lst>
  <p:hf hdr="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Arial"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a:t>Higher Fidelity for Reactive Machine-Learning Potentials by Relabelling</a:t>
            </a:r>
          </a:p>
        </p:txBody>
      </p:sp>
      <p:sp>
        <p:nvSpPr>
          <p:cNvPr id="3" name="Subtitle 2"/>
          <p:cNvSpPr>
            <a:spLocks noGrp="1"/>
          </p:cNvSpPr>
          <p:nvPr>
            <p:ph type="subTitle" idx="1"/>
          </p:nvPr>
        </p:nvSpPr>
        <p:spPr/>
        <p:txBody>
          <a:bodyPr/>
          <a:lstStyle/>
          <a:p>
            <a:r>
              <a:rPr sz="1800"/>
              <a:t>MSc thesis defence</a:t>
            </a:r>
          </a:p>
          <a:p>
            <a:r>
              <a:rPr sz="1800"/>
              <a:t>Benedikt Pabinger</a:t>
            </a:r>
          </a:p>
          <a:p>
            <a:r>
              <a:rPr sz="1800"/>
              <a:t>Supervisors: Arghya Bhowmik, Emma Christine Lei Hovmand, Andreas Burger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Machine-learned potentials make DFT cheap, but for reactions they had no data</a:t>
            </a:r>
          </a:p>
        </p:txBody>
      </p:sp>
      <p:sp>
        <p:nvSpPr>
          <p:cNvPr id="3" name="Content Placeholder 2"/>
          <p:cNvSpPr>
            <a:spLocks noGrp="1"/>
          </p:cNvSpPr>
          <p:nvPr>
            <p:ph idx="1" sz="half"/>
          </p:nvPr>
        </p:nvSpPr>
        <p:spPr/>
        <p:txBody>
          <a:bodyPr/>
          <a:lstStyle/>
          <a:p>
            <a:r>
              <a:rPr b="1" sz="1800"/>
              <a:t>What they are used for</a:t>
            </a:r>
          </a:p>
          <a:p>
            <a:pPr lvl="1"/>
            <a:r>
              <a:rPr sz="1600"/>
              <a:t>energy and forces in milliseconds instead of hours</a:t>
            </a:r>
          </a:p>
          <a:p>
            <a:pPr lvl="1"/>
            <a:r>
              <a:rPr sz="1600"/>
              <a:t>molecular dynamics</a:t>
            </a:r>
          </a:p>
          <a:p>
            <a:pPr lvl="1"/>
            <a:r>
              <a:rPr sz="1600"/>
              <a:t>screening thousands of molecules</a:t>
            </a:r>
          </a:p>
          <a:p>
            <a:pPr lvl="1"/>
            <a:r>
              <a:rPr sz="1600"/>
              <a:t>systems too large for DFT</a:t>
            </a:r>
          </a:p>
          <a:p>
            <a:pPr lvl="1"/>
            <a:r>
              <a:rPr sz="1600"/>
              <a:t>universal models: UMA, eSEN, trained on 10⁸ DFT calculations</a:t>
            </a:r>
          </a:p>
        </p:txBody>
      </p:sp>
      <p:sp>
        <p:nvSpPr>
          <p:cNvPr id="4" name="Content Placeholder 3"/>
          <p:cNvSpPr>
            <a:spLocks noGrp="1"/>
          </p:cNvSpPr>
          <p:nvPr>
            <p:ph idx="2" sz="half"/>
          </p:nvPr>
        </p:nvSpPr>
        <p:spPr/>
        <p:txBody>
          <a:bodyPr/>
          <a:lstStyle/>
          <a:p>
            <a:r>
              <a:rPr b="1" sz="1800"/>
              <a:t>The exception: reactions</a:t>
            </a:r>
          </a:p>
          <a:p>
            <a:pPr lvl="1"/>
            <a:r>
              <a:rPr sz="1600"/>
              <a:t>the datasets held equilibrium structures</a:t>
            </a:r>
          </a:p>
          <a:p>
            <a:pPr lvl="1"/>
            <a:r>
              <a:rPr sz="1600"/>
              <a:t>a transition state is far from equilibrium</a:t>
            </a:r>
          </a:p>
          <a:p>
            <a:pPr lvl="1"/>
            <a:r>
              <a:rPr sz="1600"/>
              <a:t>“limited success as surrogate potentials for reaction barrier search” (Transition1x paper, 2022)</a:t>
            </a:r>
          </a:p>
          <a:p>
            <a:pPr lvl="1"/>
            <a:r>
              <a:rPr sz="1600"/>
              <a:t>and barriers matter: they enter the rate exponentially, 43 meV is a factor of five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Transition1x gave them the data, at a cheap level</a:t>
            </a:r>
          </a:p>
        </p:txBody>
      </p:sp>
      <p:sp>
        <p:nvSpPr>
          <p:cNvPr id="3" name="TextBox 2"/>
          <p:cNvSpPr txBox="1"/>
          <p:nvPr/>
        </p:nvSpPr>
        <p:spPr>
          <a:xfrm>
            <a:off x="1737360" y="1920240"/>
            <a:ext cx="2926080" cy="822960"/>
          </a:xfrm>
          <a:prstGeom prst="rect">
            <a:avLst/>
          </a:prstGeom>
          <a:noFill/>
        </p:spPr>
        <p:txBody>
          <a:bodyPr wrap="square" lIns="45720" rIns="45720" tIns="18288" bIns="18288" anchor="b">
            <a:spAutoFit/>
          </a:bodyPr>
          <a:lstStyle/>
          <a:p>
            <a:pPr algn="l">
              <a:spcAft>
                <a:spcPts val="600"/>
              </a:spcAft>
            </a:pPr>
            <a:r>
              <a:rPr sz="3400" b="1" i="0">
                <a:solidFill>
                  <a:srgbClr val="030F4F"/>
                </a:solidFill>
              </a:rPr>
              <a:t>10 073</a:t>
            </a:r>
          </a:p>
        </p:txBody>
      </p:sp>
      <p:sp>
        <p:nvSpPr>
          <p:cNvPr id="4" name="TextBox 3"/>
          <p:cNvSpPr txBox="1"/>
          <p:nvPr/>
        </p:nvSpPr>
        <p:spPr>
          <a:xfrm>
            <a:off x="1737360" y="2788920"/>
            <a:ext cx="2926080" cy="1280160"/>
          </a:xfrm>
          <a:prstGeom prst="rect">
            <a:avLst/>
          </a:prstGeom>
          <a:noFill/>
        </p:spPr>
        <p:txBody>
          <a:bodyPr wrap="square" lIns="45720" rIns="45720" tIns="18288" bIns="18288" anchor="t">
            <a:spAutoFit/>
          </a:bodyPr>
          <a:lstStyle/>
          <a:p>
            <a:pPr algn="l">
              <a:spcAft>
                <a:spcPts val="600"/>
              </a:spcAft>
            </a:pPr>
            <a:r>
              <a:rPr sz="1500" b="0" i="0">
                <a:solidFill>
                  <a:srgbClr val="222222"/>
                </a:solidFill>
              </a:rPr>
              <a:t>reaction paths, every intermediate NEB geometry kept</a:t>
            </a:r>
          </a:p>
        </p:txBody>
      </p:sp>
      <p:sp>
        <p:nvSpPr>
          <p:cNvPr id="5" name="TextBox 4"/>
          <p:cNvSpPr txBox="1"/>
          <p:nvPr/>
        </p:nvSpPr>
        <p:spPr>
          <a:xfrm>
            <a:off x="4937760" y="1920240"/>
            <a:ext cx="2926080" cy="822960"/>
          </a:xfrm>
          <a:prstGeom prst="rect">
            <a:avLst/>
          </a:prstGeom>
          <a:noFill/>
        </p:spPr>
        <p:txBody>
          <a:bodyPr wrap="square" lIns="45720" rIns="45720" tIns="18288" bIns="18288" anchor="b">
            <a:spAutoFit/>
          </a:bodyPr>
          <a:lstStyle/>
          <a:p>
            <a:pPr algn="l">
              <a:spcAft>
                <a:spcPts val="600"/>
              </a:spcAft>
            </a:pPr>
            <a:r>
              <a:rPr sz="3400" b="1" i="0">
                <a:solidFill>
                  <a:srgbClr val="030F4F"/>
                </a:solidFill>
              </a:rPr>
              <a:t>9.6 million</a:t>
            </a:r>
          </a:p>
        </p:txBody>
      </p:sp>
      <p:sp>
        <p:nvSpPr>
          <p:cNvPr id="6" name="TextBox 5"/>
          <p:cNvSpPr txBox="1"/>
          <p:nvPr/>
        </p:nvSpPr>
        <p:spPr>
          <a:xfrm>
            <a:off x="4937760" y="2788920"/>
            <a:ext cx="2926080" cy="1280160"/>
          </a:xfrm>
          <a:prstGeom prst="rect">
            <a:avLst/>
          </a:prstGeom>
          <a:noFill/>
        </p:spPr>
        <p:txBody>
          <a:bodyPr wrap="square" lIns="45720" rIns="45720" tIns="18288" bIns="18288" anchor="t">
            <a:spAutoFit/>
          </a:bodyPr>
          <a:lstStyle/>
          <a:p>
            <a:pPr algn="l">
              <a:spcAft>
                <a:spcPts val="600"/>
              </a:spcAft>
            </a:pPr>
            <a:r>
              <a:rPr sz="1500" b="0" i="0">
                <a:solidFill>
                  <a:srgbClr val="222222"/>
                </a:solidFill>
              </a:rPr>
              <a:t>DFT energies and forces on and around the paths</a:t>
            </a:r>
          </a:p>
        </p:txBody>
      </p:sp>
      <p:sp>
        <p:nvSpPr>
          <p:cNvPr id="7" name="TextBox 6"/>
          <p:cNvSpPr txBox="1"/>
          <p:nvPr/>
        </p:nvSpPr>
        <p:spPr>
          <a:xfrm>
            <a:off x="8138160" y="1920240"/>
            <a:ext cx="2926080" cy="822960"/>
          </a:xfrm>
          <a:prstGeom prst="rect">
            <a:avLst/>
          </a:prstGeom>
          <a:noFill/>
        </p:spPr>
        <p:txBody>
          <a:bodyPr wrap="square" lIns="45720" rIns="45720" tIns="18288" bIns="18288" anchor="b">
            <a:spAutoFit/>
          </a:bodyPr>
          <a:lstStyle/>
          <a:p>
            <a:pPr algn="l">
              <a:spcAft>
                <a:spcPts val="600"/>
              </a:spcAft>
            </a:pPr>
            <a:r>
              <a:rPr sz="2600" b="1" i="0">
                <a:solidFill>
                  <a:srgbClr val="030F4F"/>
                </a:solidFill>
              </a:rPr>
              <a:t>ωB97X/6-31G(d)</a:t>
            </a:r>
          </a:p>
        </p:txBody>
      </p:sp>
      <p:sp>
        <p:nvSpPr>
          <p:cNvPr id="8" name="TextBox 7"/>
          <p:cNvSpPr txBox="1"/>
          <p:nvPr/>
        </p:nvSpPr>
        <p:spPr>
          <a:xfrm>
            <a:off x="8138160" y="2788920"/>
            <a:ext cx="2926080" cy="1280160"/>
          </a:xfrm>
          <a:prstGeom prst="rect">
            <a:avLst/>
          </a:prstGeom>
          <a:noFill/>
        </p:spPr>
        <p:txBody>
          <a:bodyPr wrap="square" lIns="45720" rIns="45720" tIns="18288" bIns="18288" anchor="t">
            <a:spAutoFit/>
          </a:bodyPr>
          <a:lstStyle/>
          <a:p>
            <a:pPr algn="l">
              <a:spcAft>
                <a:spcPts val="600"/>
              </a:spcAft>
            </a:pPr>
            <a:r>
              <a:rPr sz="1500" b="0" i="0">
                <a:solidFill>
                  <a:srgbClr val="222222"/>
                </a:solidFill>
              </a:rPr>
              <a:t>level chosen for cost and for compatibility with ANI-1x, not for barrier accuracy</a:t>
            </a:r>
          </a:p>
        </p:txBody>
      </p:sp>
      <p:sp>
        <p:nvSpPr>
          <p:cNvPr id="9" name="TextBox 8"/>
          <p:cNvSpPr txBox="1"/>
          <p:nvPr/>
        </p:nvSpPr>
        <p:spPr>
          <a:xfrm>
            <a:off x="1737360" y="4206240"/>
            <a:ext cx="9326880" cy="1463040"/>
          </a:xfrm>
          <a:prstGeom prst="rect">
            <a:avLst/>
          </a:prstGeom>
          <a:noFill/>
        </p:spPr>
        <p:txBody>
          <a:bodyPr wrap="square" lIns="45720" rIns="45720" tIns="18288" bIns="18288" anchor="t">
            <a:spAutoFit/>
          </a:bodyPr>
          <a:lstStyle/>
          <a:p>
            <a:pPr algn="l">
              <a:spcAft>
                <a:spcPts val="1000"/>
              </a:spcAft>
            </a:pPr>
            <a:r>
              <a:rPr sz="1800" b="0" i="0">
                <a:solidFill>
                  <a:srgbClr val="222222"/>
                </a:solidFill>
              </a:rPr>
              <a:t>Better levels exist. ωB97M-V/def2-TZVP is among the most accurate DFT methods for barriers.</a:t>
            </a:r>
          </a:p>
          <a:p>
            <a:pPr algn="l">
              <a:spcAft>
                <a:spcPts val="1000"/>
              </a:spcAft>
            </a:pPr>
            <a:r>
              <a:rPr sz="1800" b="1" i="0">
                <a:solidFill>
                  <a:srgbClr val="222222"/>
                </a:solidFill>
              </a:rPr>
              <a:t>A model trained on Transition1x is only as good as these labels.</a:t>
            </a:r>
          </a:p>
        </p:txBody>
      </p:sp>
      <p:sp>
        <p:nvSpPr>
          <p:cNvPr id="10" name="TextBox 9"/>
          <p:cNvSpPr txBox="1"/>
          <p:nvPr/>
        </p:nvSpPr>
        <p:spPr>
          <a:xfrm>
            <a:off x="1737360" y="6035040"/>
            <a:ext cx="9326880" cy="365760"/>
          </a:xfrm>
          <a:prstGeom prst="rect">
            <a:avLst/>
          </a:prstGeom>
          <a:noFill/>
        </p:spPr>
        <p:txBody>
          <a:bodyPr wrap="square" lIns="45720" rIns="45720" tIns="18288" bIns="18288" anchor="t">
            <a:spAutoFit/>
          </a:bodyPr>
          <a:lstStyle/>
          <a:p>
            <a:pPr algn="l">
              <a:spcAft>
                <a:spcPts val="600"/>
              </a:spcAft>
            </a:pPr>
            <a:r>
              <a:rPr sz="1100" b="0" i="0">
                <a:solidFill>
                  <a:srgbClr val="666666"/>
                </a:solidFill>
              </a:rPr>
              <a:t>Schreiner, Bhowmik, Vegge, Busk, Winther, Sci. Data 2022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A dataset is geometries plus labels. Relabelling changes the labels and keeps the geometries</a:t>
            </a:r>
          </a:p>
        </p:txBody>
      </p:sp>
      <p:pic>
        <p:nvPicPr>
          <p:cNvPr id="3" name="Picture 2" descr="pic_dataset.png"/>
          <p:cNvPicPr>
            <a:picLocks noChangeAspect="1"/>
          </p:cNvPicPr>
          <p:nvPr/>
        </p:nvPicPr>
        <p:blipFill>
          <a:blip r:embed="rId2"/>
          <a:stretch>
            <a:fillRect/>
          </a:stretch>
        </p:blipFill>
        <p:spPr>
          <a:xfrm>
            <a:off x="1463040" y="1737360"/>
            <a:ext cx="5760720" cy="3314317"/>
          </a:xfrm>
          <a:prstGeom prst="rect">
            <a:avLst/>
          </a:prstGeom>
        </p:spPr>
      </p:pic>
      <p:sp>
        <p:nvSpPr>
          <p:cNvPr id="4" name="TextBox 3"/>
          <p:cNvSpPr txBox="1"/>
          <p:nvPr/>
        </p:nvSpPr>
        <p:spPr>
          <a:xfrm>
            <a:off x="7498079" y="1828800"/>
            <a:ext cx="4206240" cy="4389120"/>
          </a:xfrm>
          <a:prstGeom prst="rect">
            <a:avLst/>
          </a:prstGeom>
          <a:noFill/>
        </p:spPr>
        <p:txBody>
          <a:bodyPr wrap="square" lIns="45720" rIns="45720" tIns="18288" bIns="18288" anchor="t">
            <a:spAutoFit/>
          </a:bodyPr>
          <a:lstStyle/>
          <a:p>
            <a:pPr algn="l">
              <a:spcAft>
                <a:spcPts val="1000"/>
              </a:spcAft>
            </a:pPr>
            <a:r>
              <a:rPr sz="1500" b="0" i="0">
                <a:solidFill>
                  <a:srgbClr val="222222"/>
                </a:solidFill>
              </a:rPr>
              <a:t>The geometries come from the path search. The labels are the energy and force at each one.</a:t>
            </a:r>
          </a:p>
          <a:p>
            <a:pPr algn="l">
              <a:spcAft>
                <a:spcPts val="1000"/>
              </a:spcAft>
            </a:pPr>
            <a:r>
              <a:rPr sz="1500" b="1" i="0">
                <a:solidFill>
                  <a:srgbClr val="222222"/>
                </a:solidFill>
              </a:rPr>
              <a:t>Only the labels are tied to the cheap level.</a:t>
            </a:r>
          </a:p>
          <a:p>
            <a:pPr algn="l">
              <a:spcAft>
                <a:spcPts val="1000"/>
              </a:spcAft>
            </a:pPr>
            <a:r>
              <a:rPr sz="1500" b="0" i="0">
                <a:solidFill>
                  <a:srgbClr val="222222"/>
                </a:solidFill>
              </a:rPr>
              <a:t>So recompute them: one single point per geometry at the better level. No new path search.</a:t>
            </a:r>
          </a:p>
          <a:p>
            <a:pPr algn="l">
              <a:spcAft>
                <a:spcPts val="1000"/>
              </a:spcAft>
            </a:pPr>
            <a:r>
              <a:rPr sz="1500" b="0" i="0">
                <a:solidFill>
                  <a:srgbClr val="222222"/>
                </a:solidFill>
              </a:rPr>
              <a:t>This is how the field raises fidelity.</a:t>
            </a:r>
          </a:p>
          <a:p>
            <a:pPr algn="l">
              <a:spcAft>
                <a:spcPts val="1000"/>
              </a:spcAft>
            </a:pPr>
            <a:r>
              <a:rPr sz="1500" b="0" i="0">
                <a:solidFill>
                  <a:srgbClr val="E0731F"/>
                </a:solidFill>
              </a:rPr>
              <a:t>OMol25, 2025: did it for all of Transition1x. Same geometries, new labels at ωB97M-V/def2-TZVPD, computed unrestricted, the way DFT can describe a half-broken bond.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Two things you can do to that picture, and a question for each</a:t>
            </a:r>
          </a:p>
        </p:txBody>
      </p:sp>
      <p:pic>
        <p:nvPicPr>
          <p:cNvPr id="3" name="Picture 2" descr="pic_rq1.png"/>
          <p:cNvPicPr>
            <a:picLocks noChangeAspect="1"/>
          </p:cNvPicPr>
          <p:nvPr/>
        </p:nvPicPr>
        <p:blipFill>
          <a:blip r:embed="rId2"/>
          <a:stretch>
            <a:fillRect/>
          </a:stretch>
        </p:blipFill>
        <p:spPr>
          <a:xfrm>
            <a:off x="1463040" y="1463040"/>
            <a:ext cx="4480560" cy="2577802"/>
          </a:xfrm>
          <a:prstGeom prst="rect">
            <a:avLst/>
          </a:prstGeom>
        </p:spPr>
      </p:pic>
      <p:pic>
        <p:nvPicPr>
          <p:cNvPr id="4" name="Picture 3" descr="pic_rq2.png"/>
          <p:cNvPicPr>
            <a:picLocks noChangeAspect="1"/>
          </p:cNvPicPr>
          <p:nvPr/>
        </p:nvPicPr>
        <p:blipFill>
          <a:blip r:embed="rId3"/>
          <a:stretch>
            <a:fillRect/>
          </a:stretch>
        </p:blipFill>
        <p:spPr>
          <a:xfrm>
            <a:off x="6766560" y="1463040"/>
            <a:ext cx="4480560" cy="2577802"/>
          </a:xfrm>
          <a:prstGeom prst="rect">
            <a:avLst/>
          </a:prstGeom>
        </p:spPr>
      </p:pic>
      <p:sp>
        <p:nvSpPr>
          <p:cNvPr id="5" name="TextBox 4"/>
          <p:cNvSpPr txBox="1"/>
          <p:nvPr/>
        </p:nvSpPr>
        <p:spPr>
          <a:xfrm>
            <a:off x="1463040" y="4074795"/>
            <a:ext cx="4480560" cy="2377440"/>
          </a:xfrm>
          <a:prstGeom prst="rect">
            <a:avLst/>
          </a:prstGeom>
          <a:noFill/>
        </p:spPr>
        <p:txBody>
          <a:bodyPr wrap="square" lIns="45720" rIns="45720" tIns="18288" bIns="18288" anchor="t">
            <a:spAutoFit/>
          </a:bodyPr>
          <a:lstStyle/>
          <a:p>
            <a:pPr algn="l">
              <a:spcAft>
                <a:spcPts val="500"/>
              </a:spcAft>
            </a:pPr>
            <a:r>
              <a:rPr sz="1500" b="1" i="0">
                <a:solidFill>
                  <a:srgbClr val="030F4F"/>
                </a:solidFill>
              </a:rPr>
              <a:t>RQ1   How few labels are enough to lift the model?</a:t>
            </a:r>
          </a:p>
          <a:p>
            <a:pPr algn="l">
              <a:spcAft>
                <a:spcPts val="500"/>
              </a:spcAft>
            </a:pPr>
            <a:r>
              <a:rPr sz="1300" b="0" i="0">
                <a:solidFill>
                  <a:srgbClr val="222222"/>
                </a:solidFill>
              </a:rPr>
              <a:t>What we did: trained MACE on Transition1x, relabelled under 1 % of it at ωB97M-V/def2-TZVP, trained a small correction head on that.</a:t>
            </a:r>
          </a:p>
          <a:p>
            <a:pPr algn="l">
              <a:spcAft>
                <a:spcPts val="500"/>
              </a:spcAft>
            </a:pPr>
            <a:r>
              <a:rPr sz="1300" b="0" i="0">
                <a:solidFill>
                  <a:srgbClr val="222222"/>
                </a:solidFill>
              </a:rPr>
              <a:t>Tested against DFT reference paths on 30 unseen reactions.</a:t>
            </a:r>
          </a:p>
        </p:txBody>
      </p:sp>
      <p:sp>
        <p:nvSpPr>
          <p:cNvPr id="6" name="TextBox 5"/>
          <p:cNvSpPr txBox="1"/>
          <p:nvPr/>
        </p:nvSpPr>
        <p:spPr>
          <a:xfrm>
            <a:off x="6766560" y="4074795"/>
            <a:ext cx="4480560" cy="2377440"/>
          </a:xfrm>
          <a:prstGeom prst="rect">
            <a:avLst/>
          </a:prstGeom>
          <a:noFill/>
        </p:spPr>
        <p:txBody>
          <a:bodyPr wrap="square" lIns="45720" rIns="45720" tIns="18288" bIns="18288" anchor="t">
            <a:spAutoFit/>
          </a:bodyPr>
          <a:lstStyle/>
          <a:p>
            <a:pPr algn="l">
              <a:spcAft>
                <a:spcPts val="500"/>
              </a:spcAft>
            </a:pPr>
            <a:r>
              <a:rPr sz="1500" b="1" i="0">
                <a:solidFill>
                  <a:srgbClr val="E0731F"/>
                </a:solidFill>
              </a:rPr>
              <a:t>RQ2   Are the geometries still the right ones on the new surface?</a:t>
            </a:r>
          </a:p>
          <a:p>
            <a:pPr algn="l">
              <a:spcAft>
                <a:spcPts val="500"/>
              </a:spcAft>
            </a:pPr>
            <a:r>
              <a:rPr sz="1300" b="0" i="0">
                <a:solidFill>
                  <a:srgbClr val="222222"/>
                </a:solidFill>
              </a:rPr>
              <a:t>What we did: let the three OMol25 models search transition states of 45 Transition1x reactions, checked every result with unrestricted DFT and a stability analysis.</a:t>
            </a:r>
          </a:p>
          <a:p>
            <a:pPr algn="l">
              <a:spcAft>
                <a:spcPts val="500"/>
              </a:spcAft>
            </a:pPr>
            <a:r>
              <a:rPr sz="1300" b="0" i="0">
                <a:solidFill>
                  <a:srgbClr val="222222"/>
                </a:solidFill>
              </a:rPr>
              <a:t>Tested whether they do as well where the surface differs as where it does not.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_LOCKS" val="0"/>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Navy Blue">
      <a:dk1>
        <a:srgbClr val="000000"/>
      </a:dk1>
      <a:lt1>
        <a:srgbClr val="FFFFFF"/>
      </a:lt1>
      <a:dk2>
        <a:srgbClr val="030F4F"/>
      </a:dk2>
      <a:lt2>
        <a:srgbClr val="79238E"/>
      </a:lt2>
      <a:accent1>
        <a:srgbClr val="030F4F"/>
      </a:accent1>
      <a:accent2>
        <a:srgbClr val="2F3EEA"/>
      </a:accent2>
      <a:accent3>
        <a:srgbClr val="1FD082"/>
      </a:accent3>
      <a:accent4>
        <a:srgbClr val="171748"/>
      </a:accent4>
      <a:accent5>
        <a:srgbClr val="F6D04D"/>
      </a:accent5>
      <a:accent6>
        <a:srgbClr val="FC7634"/>
      </a:accent6>
      <a:hlink>
        <a:srgbClr val="2F3EEA"/>
      </a:hlink>
      <a:folHlink>
        <a:srgbClr val="030F4F"/>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Red_doorporate_DK_.potx" id="{53DCBCD5-389E-4100-85BE-9D9F91FE8BB7}" vid="{92762ABB-E8FB-4BCC-9C0C-8FD908B1C889}"/>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DA1FD2B40FDA458284BB6FCA763489" ma:contentTypeVersion="6" ma:contentTypeDescription="Create a new document." ma:contentTypeScope="" ma:versionID="cccb3bc81e691d516a767b109d3cd329">
  <xsd:schema xmlns:xsd="http://www.w3.org/2001/XMLSchema" xmlns:xs="http://www.w3.org/2001/XMLSchema" xmlns:p="http://schemas.microsoft.com/office/2006/metadata/properties" xmlns:ns2="683dcda1-f8c3-442f-ae64-e236c052732d" xmlns:ns3="715bde23-c48d-41ea-a697-dffaa8fbae8d" targetNamespace="http://schemas.microsoft.com/office/2006/metadata/properties" ma:root="true" ma:fieldsID="ccfcd265b5d4dee778a0ee10ef25187c" ns2:_="" ns3:_="">
    <xsd:import namespace="683dcda1-f8c3-442f-ae64-e236c052732d"/>
    <xsd:import namespace="715bde23-c48d-41ea-a697-dffaa8fbae8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3dcda1-f8c3-442f-ae64-e236c05273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5bde23-c48d-41ea-a697-dffaa8fbae8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715bde23-c48d-41ea-a697-dffaa8fbae8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261DAC-624D-4DA1-960A-3A3253F019BF}"/>
</file>

<file path=customXml/itemProps2.xml><?xml version="1.0" encoding="utf-8"?>
<ds:datastoreItem xmlns:ds="http://schemas.openxmlformats.org/officeDocument/2006/customXml" ds:itemID="{55F20C36-75B9-412C-984C-BB0C68788AE9}">
  <ds:schemaRefs>
    <ds:schemaRef ds:uri="http://schemas.microsoft.com/office/2006/metadata/properties"/>
    <ds:schemaRef ds:uri="http://schemas.microsoft.com/office/infopath/2007/PartnerControls"/>
    <ds:schemaRef ds:uri="715bde23-c48d-41ea-a697-dffaa8fbae8d"/>
  </ds:schemaRefs>
</ds:datastoreItem>
</file>

<file path=customXml/itemProps3.xml><?xml version="1.0" encoding="utf-8"?>
<ds:datastoreItem xmlns:ds="http://schemas.openxmlformats.org/officeDocument/2006/customXml" ds:itemID="{FFAA86A3-D07C-4999-80B6-325F774CCE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201</Words>
  <Application>Microsoft Office PowerPoint</Application>
  <PresentationFormat>Widescreen</PresentationFormat>
  <Paragraphs>26</Paragraphs>
  <Slides>3</Slides>
  <Notes>2</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Aptos</vt:lpstr>
      <vt:lpstr>Arial</vt:lpstr>
      <vt:lpstr>Calibri</vt:lpstr>
      <vt:lpstr>Verdana</vt:lpstr>
      <vt:lpstr>Blank</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DTU</dc:creator>
  <cp:lastModifiedBy>DTU</cp:lastModifiedBy>
  <cp:revision>1</cp:revision>
  <dcterms:created xsi:type="dcterms:W3CDTF">2026-09-22T13:08:17Z</dcterms:created>
  <dcterms:modified xsi:type="dcterms:W3CDTF">2026-09-24T08:01:23Z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0x0101009ADA1FD2B40FDA458284BB6FCA763489</vt:lpwstr>
  </property>
</Properties>
</file>