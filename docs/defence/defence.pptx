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4"/>
  </p:sldMasterIdLst>
  <p:notesMasterIdLst>
    <p:notesMasterId r:id="rId17"/>
  </p:notesMasterIdLst>
  <p:handoutMasterIdLst>
    <p:handoutMasterId r:id="rId18"/>
  </p:handoutMasterIdLst>
  <p:sldIdLst>
    <p:sldId id="263" r:id="rId5"/>
    <p:sldId id="265" r:id="rId6"/>
    <p:sldId id="266" r:id="rId7"/>
    <p:sldId id="272" r:id="rId8"/>
    <p:sldId id="267" r:id="rId9"/>
    <p:sldId id="268" r:id="rId10"/>
    <p:sldId id="271" r:id="rId11"/>
    <p:sldId id="269" r:id="rId12"/>
    <p:sldId id="264" r:id="rId13"/>
    <p:sldId id="256" r:id="rId14"/>
    <p:sldId id="270" r:id="rId15"/>
    <p:sldId id="260" r:id="rId16"/>
  </p:sldIdLst>
  <p:sldSz cx="12192000" cy="6858000"/>
  <p:notesSz cx="6858000" cy="9144000"/>
  <p:defaultTextStyle>
    <a:defPPr>
      <a:defRPr lang="en-GB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Arial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7EF7EAF7-54AC-4FE1-B3E9-F232E243A3BB}">
          <p14:sldIdLst>
            <p14:sldId id="263"/>
            <p14:sldId id="265"/>
            <p14:sldId id="266"/>
            <p14:sldId id="272"/>
            <p14:sldId id="267"/>
            <p14:sldId id="268"/>
            <p14:sldId id="271"/>
          </p14:sldIdLst>
        </p14:section>
        <p14:section name="BACKUP" id="{F9281380-8222-44D7-BD14-038DE2DD4AAC}">
          <p14:sldIdLst>
            <p14:sldId id="269"/>
            <p14:sldId id="264"/>
            <p14:sldId id="256"/>
            <p14:sldId id="270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731F"/>
    <a:srgbClr val="030F4F"/>
    <a:srgbClr val="FFFFFF"/>
    <a:srgbClr val="990000"/>
    <a:srgbClr val="000000"/>
    <a:srgbClr val="FFCC00"/>
    <a:srgbClr val="FF6600"/>
    <a:srgbClr val="FF0000"/>
    <a:srgbClr val="FF0099"/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DD1838-83DB-DD3C-6A22-0E508F19D52E}" v="1" dt="2026-09-28T18:38:49.914"/>
    <p1510:client id="{E3C9547E-AEC3-41B0-8FA3-8FA6AF4BBE3F}" v="1081" dt="2026-09-29T10:14:52.8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en-GB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en-GB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en-GB" smtClean="0">
                <a:latin typeface="Arial" panose="020B0604020202020204" pitchFamily="34" charset="0"/>
              </a:rPr>
              <a:pPr/>
              <a:t>‹Nr.›</a:t>
            </a:fld>
            <a:endParaRPr lang="en-GB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err="1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 err="1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Help slide for DTU's PowerPoint templates. Links to inspiration slides, image bank, design guide, corporate presentation and Neo Sans Pro via Company Portal. Delete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3879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Also </a:t>
            </a:r>
            <a:r>
              <a:rPr lang="de-DE" err="1"/>
              <a:t>explain</a:t>
            </a:r>
            <a:r>
              <a:rPr lang="de-DE"/>
              <a:t> PES </a:t>
            </a:r>
            <a:r>
              <a:rPr lang="de-DE" err="1"/>
              <a:t>here</a:t>
            </a:r>
            <a:r>
              <a:rPr lang="de-DE"/>
              <a:t> and </a:t>
            </a:r>
            <a:r>
              <a:rPr lang="de-DE" err="1"/>
              <a:t>geometry</a:t>
            </a:r>
            <a:br>
              <a:rPr lang="de-DE"/>
            </a:br>
            <a:br>
              <a:rPr lang="de-DE"/>
            </a:br>
            <a:r>
              <a:rPr lang="de-DE"/>
              <a:t>Hand off </a:t>
            </a:r>
            <a:r>
              <a:rPr lang="de-DE" err="1"/>
              <a:t>with</a:t>
            </a:r>
            <a:r>
              <a:rPr lang="de-DE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376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DE38-82B8-3647-3EBE-9E68B2045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93FC373-576F-9D00-FB8F-A90F442CF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1B043E-7A25-E400-30AC-1AD957642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err="1"/>
              <a:t>What</a:t>
            </a:r>
            <a:r>
              <a:rPr lang="de-DE"/>
              <a:t> </a:t>
            </a:r>
            <a:r>
              <a:rPr lang="de-DE" err="1"/>
              <a:t>is</a:t>
            </a:r>
            <a:r>
              <a:rPr lang="de-DE"/>
              <a:t> a </a:t>
            </a:r>
            <a:r>
              <a:rPr lang="de-DE" err="1"/>
              <a:t>functional</a:t>
            </a:r>
            <a:r>
              <a:rPr lang="de-DE"/>
              <a:t> </a:t>
            </a:r>
            <a:r>
              <a:rPr lang="de-DE" err="1"/>
              <a:t>lookup</a:t>
            </a:r>
            <a:br>
              <a:rPr lang="de-DE"/>
            </a:br>
            <a:r>
              <a:rPr lang="de-DE" err="1"/>
              <a:t>basis</a:t>
            </a:r>
            <a:r>
              <a:rPr lang="de-DE"/>
              <a:t> </a:t>
            </a:r>
            <a:r>
              <a:rPr lang="de-DE" err="1"/>
              <a:t>sets</a:t>
            </a:r>
            <a:r>
              <a:rPr lang="de-DE"/>
              <a:t>: </a:t>
            </a:r>
            <a:r>
              <a:rPr lang="de-DE" err="1"/>
              <a:t>pixels</a:t>
            </a:r>
            <a:br>
              <a:rPr lang="de-DE"/>
            </a:br>
            <a:r>
              <a:rPr lang="de-DE" err="1"/>
              <a:t>why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dispersion</a:t>
            </a:r>
            <a:br>
              <a:rPr lang="de-DE"/>
            </a:br>
            <a:r>
              <a:rPr lang="de-DE" err="1"/>
              <a:t>good</a:t>
            </a:r>
            <a:r>
              <a:rPr lang="de-DE"/>
              <a:t> </a:t>
            </a:r>
            <a:r>
              <a:rPr lang="de-DE" err="1"/>
              <a:t>way</a:t>
            </a:r>
            <a:r>
              <a:rPr lang="de-DE"/>
              <a:t> to </a:t>
            </a:r>
            <a:r>
              <a:rPr lang="de-DE" err="1"/>
              <a:t>describe</a:t>
            </a:r>
            <a:r>
              <a:rPr lang="de-DE"/>
              <a:t> </a:t>
            </a:r>
            <a:r>
              <a:rPr lang="de-DE" err="1"/>
              <a:t>restricted</a:t>
            </a:r>
            <a:r>
              <a:rPr lang="de-DE"/>
              <a:t> and </a:t>
            </a:r>
            <a:r>
              <a:rPr lang="de-DE" err="1"/>
              <a:t>unrestricted</a:t>
            </a:r>
            <a:br>
              <a:rPr lang="de-DE"/>
            </a:br>
            <a:br>
              <a:rPr lang="de-DE"/>
            </a:br>
            <a:r>
              <a:rPr lang="de-DE"/>
              <a:t>Summary: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want</a:t>
            </a:r>
            <a:r>
              <a:rPr lang="de-DE"/>
              <a:t> a </a:t>
            </a:r>
            <a:r>
              <a:rPr lang="de-DE" err="1"/>
              <a:t>bunch</a:t>
            </a:r>
            <a:r>
              <a:rPr lang="de-DE"/>
              <a:t> of </a:t>
            </a:r>
            <a:r>
              <a:rPr lang="de-DE" err="1"/>
              <a:t>good</a:t>
            </a:r>
            <a:r>
              <a:rPr lang="de-DE"/>
              <a:t> and </a:t>
            </a:r>
            <a:r>
              <a:rPr lang="de-DE" err="1"/>
              <a:t>well</a:t>
            </a:r>
            <a:r>
              <a:rPr lang="de-DE"/>
              <a:t> </a:t>
            </a:r>
            <a:r>
              <a:rPr lang="de-DE" err="1"/>
              <a:t>sorted</a:t>
            </a:r>
            <a:r>
              <a:rPr lang="de-DE"/>
              <a:t> </a:t>
            </a:r>
            <a:r>
              <a:rPr lang="de-DE" err="1"/>
              <a:t>calculations</a:t>
            </a:r>
            <a:r>
              <a:rPr lang="de-DE"/>
              <a:t> </a:t>
            </a:r>
            <a:r>
              <a:rPr lang="de-DE" err="1"/>
              <a:t>that</a:t>
            </a:r>
            <a:r>
              <a:rPr lang="de-DE"/>
              <a:t> </a:t>
            </a:r>
            <a:r>
              <a:rPr lang="de-DE" err="1"/>
              <a:t>teach</a:t>
            </a:r>
            <a:r>
              <a:rPr lang="de-DE"/>
              <a:t> a </a:t>
            </a:r>
            <a:r>
              <a:rPr lang="de-DE" err="1"/>
              <a:t>model</a:t>
            </a:r>
            <a:r>
              <a:rPr lang="de-DE"/>
              <a:t> </a:t>
            </a:r>
            <a:r>
              <a:rPr lang="de-DE" err="1"/>
              <a:t>how</a:t>
            </a:r>
            <a:r>
              <a:rPr lang="de-DE"/>
              <a:t> to do DFT </a:t>
            </a:r>
            <a:r>
              <a:rPr lang="de-DE" err="1"/>
              <a:t>calculations</a:t>
            </a:r>
            <a:br>
              <a:rPr lang="de-DE"/>
            </a:br>
            <a:r>
              <a:rPr lang="de-DE"/>
              <a:t>The </a:t>
            </a:r>
            <a:r>
              <a:rPr lang="de-DE" err="1"/>
              <a:t>better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make</a:t>
            </a:r>
            <a:r>
              <a:rPr lang="de-DE"/>
              <a:t> </a:t>
            </a:r>
            <a:r>
              <a:rPr lang="de-DE" err="1"/>
              <a:t>these</a:t>
            </a:r>
            <a:r>
              <a:rPr lang="de-DE"/>
              <a:t> the </a:t>
            </a:r>
            <a:r>
              <a:rPr lang="de-DE" err="1"/>
              <a:t>better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get</a:t>
            </a:r>
            <a:r>
              <a:rPr lang="de-DE"/>
              <a:t>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D1E887-4BFC-1168-3A3F-D1AD36DF7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4479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Omol </a:t>
            </a:r>
            <a:r>
              <a:rPr lang="de-DE" err="1"/>
              <a:t>most</a:t>
            </a:r>
            <a:r>
              <a:rPr lang="de-DE"/>
              <a:t> important </a:t>
            </a:r>
            <a:r>
              <a:rPr lang="de-DE" err="1"/>
              <a:t>dataset</a:t>
            </a:r>
            <a:r>
              <a:rPr lang="de-DE"/>
              <a:t> </a:t>
            </a:r>
            <a:r>
              <a:rPr lang="de-DE" err="1"/>
              <a:t>right</a:t>
            </a:r>
            <a:r>
              <a:rPr lang="de-DE"/>
              <a:t> </a:t>
            </a:r>
            <a:r>
              <a:rPr lang="de-DE" err="1"/>
              <a:t>now</a:t>
            </a:r>
            <a:r>
              <a:rPr lang="de-DE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1139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Both questions start from Transition1x and both relabel it. Left: only the level of theory changes, the spin formalism stays restricted, and we do it on a subset because the question is how few labels are enough. </a:t>
            </a:r>
            <a:br>
              <a:rPr lang="de-AT"/>
            </a:br>
            <a:br>
              <a:rPr lang="de-AT"/>
            </a:br>
            <a:r>
              <a:rPr lang="de-AT"/>
              <a:t>OMOL </a:t>
            </a:r>
            <a:r>
              <a:rPr lang="de-AT" err="1"/>
              <a:t>went</a:t>
            </a:r>
            <a:r>
              <a:rPr lang="de-AT"/>
              <a:t> </a:t>
            </a:r>
            <a:r>
              <a:rPr lang="de-AT" err="1"/>
              <a:t>one</a:t>
            </a:r>
            <a:r>
              <a:rPr lang="de-AT"/>
              <a:t> step </a:t>
            </a:r>
            <a:r>
              <a:rPr lang="de-AT" err="1"/>
              <a:t>further</a:t>
            </a:r>
            <a:r>
              <a:rPr lang="de-AT"/>
              <a:t>: it </a:t>
            </a:r>
            <a:r>
              <a:rPr lang="de-AT" err="1"/>
              <a:t>relablled</a:t>
            </a:r>
            <a:r>
              <a:rPr lang="de-AT"/>
              <a:t> the </a:t>
            </a:r>
            <a:r>
              <a:rPr lang="de-AT" err="1"/>
              <a:t>whole</a:t>
            </a:r>
            <a:r>
              <a:rPr lang="de-AT"/>
              <a:t> </a:t>
            </a:r>
            <a:r>
              <a:rPr lang="de-AT" err="1"/>
              <a:t>set</a:t>
            </a:r>
            <a:r>
              <a:rPr lang="de-AT"/>
              <a:t> and also not </a:t>
            </a:r>
            <a:r>
              <a:rPr lang="de-AT" err="1"/>
              <a:t>only</a:t>
            </a:r>
            <a:r>
              <a:rPr lang="de-AT"/>
              <a:t> </a:t>
            </a:r>
            <a:r>
              <a:rPr lang="de-AT" err="1"/>
              <a:t>lifted</a:t>
            </a:r>
            <a:r>
              <a:rPr lang="de-AT"/>
              <a:t> the </a:t>
            </a:r>
            <a:r>
              <a:rPr lang="de-AT" err="1"/>
              <a:t>level</a:t>
            </a:r>
            <a:r>
              <a:rPr lang="de-AT"/>
              <a:t> of </a:t>
            </a:r>
            <a:r>
              <a:rPr lang="de-AT" err="1"/>
              <a:t>theory</a:t>
            </a:r>
            <a:r>
              <a:rPr lang="de-AT"/>
              <a:t> but also </a:t>
            </a:r>
            <a:r>
              <a:rPr lang="de-AT" err="1"/>
              <a:t>changed</a:t>
            </a:r>
            <a:r>
              <a:rPr lang="de-AT"/>
              <a:t> the </a:t>
            </a:r>
            <a:r>
              <a:rPr lang="de-AT" err="1"/>
              <a:t>spin</a:t>
            </a:r>
            <a:r>
              <a:rPr lang="de-AT"/>
              <a:t> </a:t>
            </a:r>
            <a:r>
              <a:rPr lang="de-AT" err="1"/>
              <a:t>formalism</a:t>
            </a:r>
            <a:r>
              <a:rPr lang="de-AT"/>
              <a:t> </a:t>
            </a:r>
            <a:r>
              <a:rPr lang="de-AT">
                <a:sym typeface="Wingdings" panose="05000000000000000000" pitchFamily="2" charset="2"/>
              </a:rPr>
              <a:t> </a:t>
            </a:r>
            <a:r>
              <a:rPr lang="de-AT" err="1">
                <a:sym typeface="Wingdings" panose="05000000000000000000" pitchFamily="2" charset="2"/>
              </a:rPr>
              <a:t>surface</a:t>
            </a:r>
            <a:r>
              <a:rPr lang="de-AT">
                <a:sym typeface="Wingdings" panose="05000000000000000000" pitchFamily="2" charset="2"/>
              </a:rPr>
              <a:t> it </a:t>
            </a:r>
            <a:r>
              <a:rPr lang="de-AT" err="1">
                <a:sym typeface="Wingdings" panose="05000000000000000000" pitchFamily="2" charset="2"/>
              </a:rPr>
              <a:t>has</a:t>
            </a:r>
            <a:r>
              <a:rPr lang="de-AT">
                <a:sym typeface="Wingdings" panose="05000000000000000000" pitchFamily="2" charset="2"/>
              </a:rPr>
              <a:t> to </a:t>
            </a:r>
            <a:r>
              <a:rPr lang="de-AT" err="1">
                <a:sym typeface="Wingdings" panose="05000000000000000000" pitchFamily="2" charset="2"/>
              </a:rPr>
              <a:t>learn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has</a:t>
            </a:r>
            <a:r>
              <a:rPr lang="de-AT">
                <a:sym typeface="Wingdings" panose="05000000000000000000" pitchFamily="2" charset="2"/>
              </a:rPr>
              <a:t> a different </a:t>
            </a:r>
            <a:r>
              <a:rPr lang="de-AT" err="1">
                <a:sym typeface="Wingdings" panose="05000000000000000000" pitchFamily="2" charset="2"/>
              </a:rPr>
              <a:t>shape</a:t>
            </a:r>
            <a:r>
              <a:rPr lang="de-AT">
                <a:sym typeface="Wingdings" panose="05000000000000000000" pitchFamily="2" charset="2"/>
              </a:rPr>
              <a:t> and it was </a:t>
            </a:r>
            <a:r>
              <a:rPr lang="de-AT" err="1">
                <a:sym typeface="Wingdings" panose="05000000000000000000" pitchFamily="2" charset="2"/>
              </a:rPr>
              <a:t>interesting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enough</a:t>
            </a:r>
            <a:r>
              <a:rPr lang="de-AT">
                <a:sym typeface="Wingdings" panose="05000000000000000000" pitchFamily="2" charset="2"/>
              </a:rPr>
              <a:t> to </a:t>
            </a:r>
            <a:r>
              <a:rPr lang="de-AT" err="1">
                <a:sym typeface="Wingdings" panose="05000000000000000000" pitchFamily="2" charset="2"/>
              </a:rPr>
              <a:t>ask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if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releballing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gemetries</a:t>
            </a:r>
            <a:r>
              <a:rPr lang="de-AT">
                <a:sym typeface="Wingdings" panose="05000000000000000000" pitchFamily="2" charset="2"/>
              </a:rPr>
              <a:t> generated </a:t>
            </a:r>
            <a:r>
              <a:rPr lang="de-AT" err="1">
                <a:sym typeface="Wingdings" panose="05000000000000000000" pitchFamily="2" charset="2"/>
              </a:rPr>
              <a:t>restricted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without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changing</a:t>
            </a:r>
            <a:r>
              <a:rPr lang="de-AT">
                <a:sym typeface="Wingdings" panose="05000000000000000000" pitchFamily="2" charset="2"/>
              </a:rPr>
              <a:t> the geometries </a:t>
            </a:r>
            <a:r>
              <a:rPr lang="de-AT" err="1">
                <a:sym typeface="Wingdings" panose="05000000000000000000" pitchFamily="2" charset="2"/>
              </a:rPr>
              <a:t>is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enough</a:t>
            </a:r>
            <a:r>
              <a:rPr lang="de-AT">
                <a:sym typeface="Wingdings" panose="05000000000000000000" pitchFamily="2" charset="2"/>
              </a:rPr>
              <a:t> –&gt; </a:t>
            </a:r>
            <a:br>
              <a:rPr lang="de-AT">
                <a:sym typeface="Wingdings" panose="05000000000000000000" pitchFamily="2" charset="2"/>
              </a:rPr>
            </a:br>
            <a:br>
              <a:rPr lang="de-AT">
                <a:sym typeface="Wingdings" panose="05000000000000000000" pitchFamily="2" charset="2"/>
              </a:rPr>
            </a:br>
            <a:r>
              <a:rPr lang="de-AT">
                <a:sym typeface="Wingdings" panose="05000000000000000000" pitchFamily="2" charset="2"/>
              </a:rPr>
              <a:t>The </a:t>
            </a:r>
            <a:r>
              <a:rPr lang="de-AT" err="1">
                <a:sym typeface="Wingdings" panose="05000000000000000000" pitchFamily="2" charset="2"/>
              </a:rPr>
              <a:t>way</a:t>
            </a:r>
            <a:r>
              <a:rPr lang="de-AT">
                <a:sym typeface="Wingdings" panose="05000000000000000000" pitchFamily="2" charset="2"/>
              </a:rPr>
              <a:t> to </a:t>
            </a:r>
            <a:r>
              <a:rPr lang="de-AT" err="1">
                <a:sym typeface="Wingdings" panose="05000000000000000000" pitchFamily="2" charset="2"/>
              </a:rPr>
              <a:t>test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that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is</a:t>
            </a:r>
            <a:r>
              <a:rPr lang="de-AT">
                <a:sym typeface="Wingdings" panose="05000000000000000000" pitchFamily="2" charset="2"/>
              </a:rPr>
              <a:t>: Do </a:t>
            </a:r>
            <a:r>
              <a:rPr lang="de-AT" err="1">
                <a:sym typeface="Wingdings" panose="05000000000000000000" pitchFamily="2" charset="2"/>
              </a:rPr>
              <a:t>they</a:t>
            </a:r>
            <a:r>
              <a:rPr lang="de-AT">
                <a:sym typeface="Wingdings" panose="05000000000000000000" pitchFamily="2" charset="2"/>
              </a:rPr>
              <a:t> also find </a:t>
            </a:r>
            <a:r>
              <a:rPr lang="de-AT" err="1">
                <a:sym typeface="Wingdings" panose="05000000000000000000" pitchFamily="2" charset="2"/>
              </a:rPr>
              <a:t>broken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symmetry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transition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states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well</a:t>
            </a:r>
            <a:r>
              <a:rPr lang="de-AT">
                <a:sym typeface="Wingdings" panose="05000000000000000000" pitchFamily="2" charset="2"/>
              </a:rPr>
              <a:t> –</a:t>
            </a:r>
            <a:br>
              <a:rPr lang="de-AT">
                <a:sym typeface="Wingdings" panose="05000000000000000000" pitchFamily="2" charset="2"/>
              </a:rPr>
            </a:br>
            <a:r>
              <a:rPr lang="de-AT">
                <a:sym typeface="Wingdings" panose="05000000000000000000" pitchFamily="2" charset="2"/>
              </a:rPr>
              <a:t>RQ1: </a:t>
            </a:r>
            <a:r>
              <a:rPr lang="de-AT" err="1">
                <a:sym typeface="Wingdings" panose="05000000000000000000" pitchFamily="2" charset="2"/>
              </a:rPr>
              <a:t>build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model</a:t>
            </a:r>
            <a:r>
              <a:rPr lang="de-AT">
                <a:sym typeface="Wingdings" panose="05000000000000000000" pitchFamily="2" charset="2"/>
              </a:rPr>
              <a:t>, </a:t>
            </a:r>
            <a:r>
              <a:rPr lang="de-AT" err="1">
                <a:sym typeface="Wingdings" panose="05000000000000000000" pitchFamily="2" charset="2"/>
              </a:rPr>
              <a:t>train</a:t>
            </a:r>
            <a:r>
              <a:rPr lang="de-AT">
                <a:sym typeface="Wingdings" panose="05000000000000000000" pitchFamily="2" charset="2"/>
              </a:rPr>
              <a:t> on </a:t>
            </a:r>
            <a:r>
              <a:rPr lang="de-AT" err="1">
                <a:sym typeface="Wingdings" panose="05000000000000000000" pitchFamily="2" charset="2"/>
              </a:rPr>
              <a:t>few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datapoints</a:t>
            </a:r>
            <a:r>
              <a:rPr lang="de-AT">
                <a:sym typeface="Wingdings" panose="05000000000000000000" pitchFamily="2" charset="2"/>
              </a:rPr>
              <a:t> </a:t>
            </a:r>
            <a:br>
              <a:rPr lang="de-AT">
                <a:sym typeface="Wingdings" panose="05000000000000000000" pitchFamily="2" charset="2"/>
              </a:rPr>
            </a:br>
            <a:r>
              <a:rPr lang="de-AT">
                <a:sym typeface="Wingdings" panose="05000000000000000000" pitchFamily="2" charset="2"/>
              </a:rPr>
              <a:t>RQ2: Test OMOL </a:t>
            </a:r>
            <a:r>
              <a:rPr lang="de-AT" err="1">
                <a:sym typeface="Wingdings" panose="05000000000000000000" pitchFamily="2" charset="2"/>
              </a:rPr>
              <a:t>models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performance</a:t>
            </a:r>
            <a:r>
              <a:rPr lang="de-AT">
                <a:sym typeface="Wingdings" panose="05000000000000000000" pitchFamily="2" charset="2"/>
              </a:rPr>
              <a:t> on BS TS </a:t>
            </a:r>
            <a:r>
              <a:rPr lang="de-AT" err="1">
                <a:sym typeface="Wingdings" panose="05000000000000000000" pitchFamily="2" charset="2"/>
              </a:rPr>
              <a:t>states</a:t>
            </a:r>
            <a:r>
              <a:rPr lang="de-AT">
                <a:sym typeface="Wingdings" panose="05000000000000000000" pitchFamily="2" charset="2"/>
              </a:rPr>
              <a:t>. Why RQ2? </a:t>
            </a:r>
            <a:r>
              <a:rPr lang="de-AT" err="1">
                <a:sym typeface="Wingdings" panose="05000000000000000000" pitchFamily="2" charset="2"/>
              </a:rPr>
              <a:t>Because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no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one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has</a:t>
            </a:r>
            <a:r>
              <a:rPr lang="de-AT">
                <a:sym typeface="Wingdings" panose="05000000000000000000" pitchFamily="2" charset="2"/>
              </a:rPr>
              <a:t> </a:t>
            </a:r>
            <a:r>
              <a:rPr lang="de-AT" err="1">
                <a:sym typeface="Wingdings" panose="05000000000000000000" pitchFamily="2" charset="2"/>
              </a:rPr>
              <a:t>tested</a:t>
            </a:r>
            <a:r>
              <a:rPr lang="de-AT">
                <a:sym typeface="Wingdings" panose="05000000000000000000" pitchFamily="2" charset="2"/>
              </a:rPr>
              <a:t> it.</a:t>
            </a:r>
            <a:br>
              <a:rPr lang="de-AT">
                <a:sym typeface="Wingdings" panose="05000000000000000000" pitchFamily="2" charset="2"/>
              </a:rPr>
            </a:br>
            <a:br>
              <a:rPr lang="de-AT">
                <a:sym typeface="Wingdings" panose="05000000000000000000" pitchFamily="2" charset="2"/>
              </a:rPr>
            </a:br>
            <a:br>
              <a:rPr lang="de-AT"/>
            </a:br>
            <a:r>
              <a:t>Right: the level changes and the spin formalism changes, which is what OMol25 did for all of Transition1x. For the first that means a few new labels on the same surface. For the second the surface has a different shape, and its transition state can be where no geometry is. So the second question is not about how many labels; it is about whether the geometries are still the right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5E2A7-9964-DE45-2E34-3557FFFCA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B9D7B-94F3-1DA5-F4FF-715E72AEA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C34BFD-8A8D-BD25-727D-80BD458FE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Help slide for DTU's PowerPoint templates. Links to inspiration slides, image bank, design guide, corporate presentation and Neo Sans Pro via Company Portal. Delete before presenting.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84DC41-8C64-2EE9-DE9C-E4FDF2CC3D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98389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34BB09-483B-4C4B-A5A4-C02A22055B01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5239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err="1"/>
              <a:t>What</a:t>
            </a:r>
            <a:r>
              <a:rPr lang="de-DE"/>
              <a:t> </a:t>
            </a:r>
            <a:r>
              <a:rPr lang="de-DE" err="1"/>
              <a:t>is</a:t>
            </a:r>
            <a:r>
              <a:rPr lang="de-DE"/>
              <a:t> a </a:t>
            </a:r>
            <a:r>
              <a:rPr lang="de-DE" err="1"/>
              <a:t>functional</a:t>
            </a:r>
            <a:r>
              <a:rPr lang="de-DE"/>
              <a:t> </a:t>
            </a:r>
            <a:r>
              <a:rPr lang="de-DE" err="1"/>
              <a:t>lookup</a:t>
            </a:r>
            <a:br>
              <a:rPr lang="de-DE"/>
            </a:br>
            <a:r>
              <a:rPr lang="de-DE" err="1"/>
              <a:t>basis</a:t>
            </a:r>
            <a:r>
              <a:rPr lang="de-DE"/>
              <a:t> </a:t>
            </a:r>
            <a:r>
              <a:rPr lang="de-DE" err="1"/>
              <a:t>sets</a:t>
            </a:r>
            <a:r>
              <a:rPr lang="de-DE"/>
              <a:t>: </a:t>
            </a:r>
            <a:r>
              <a:rPr lang="de-DE" err="1"/>
              <a:t>pixels</a:t>
            </a:r>
            <a:br>
              <a:rPr lang="de-DE"/>
            </a:br>
            <a:r>
              <a:rPr lang="de-DE" err="1"/>
              <a:t>why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dispersion</a:t>
            </a:r>
            <a:br>
              <a:rPr lang="de-DE"/>
            </a:br>
            <a:r>
              <a:rPr lang="de-DE" err="1"/>
              <a:t>good</a:t>
            </a:r>
            <a:r>
              <a:rPr lang="de-DE"/>
              <a:t> </a:t>
            </a:r>
            <a:r>
              <a:rPr lang="de-DE" err="1"/>
              <a:t>way</a:t>
            </a:r>
            <a:r>
              <a:rPr lang="de-DE"/>
              <a:t> to </a:t>
            </a:r>
            <a:r>
              <a:rPr lang="de-DE" err="1"/>
              <a:t>describe</a:t>
            </a:r>
            <a:r>
              <a:rPr lang="de-DE"/>
              <a:t> </a:t>
            </a:r>
            <a:r>
              <a:rPr lang="de-DE" err="1"/>
              <a:t>restricted</a:t>
            </a:r>
            <a:r>
              <a:rPr lang="de-DE"/>
              <a:t> and </a:t>
            </a:r>
            <a:r>
              <a:rPr lang="de-DE" err="1"/>
              <a:t>unrestricted</a:t>
            </a:r>
            <a:br>
              <a:rPr lang="de-DE"/>
            </a:br>
            <a:br>
              <a:rPr lang="de-DE"/>
            </a:br>
            <a:r>
              <a:rPr lang="de-DE"/>
              <a:t>Summary: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want</a:t>
            </a:r>
            <a:r>
              <a:rPr lang="de-DE"/>
              <a:t> a </a:t>
            </a:r>
            <a:r>
              <a:rPr lang="de-DE" err="1"/>
              <a:t>bunch</a:t>
            </a:r>
            <a:r>
              <a:rPr lang="de-DE"/>
              <a:t> of </a:t>
            </a:r>
            <a:r>
              <a:rPr lang="de-DE" err="1"/>
              <a:t>good</a:t>
            </a:r>
            <a:r>
              <a:rPr lang="de-DE"/>
              <a:t> and </a:t>
            </a:r>
            <a:r>
              <a:rPr lang="de-DE" err="1"/>
              <a:t>well</a:t>
            </a:r>
            <a:r>
              <a:rPr lang="de-DE"/>
              <a:t> </a:t>
            </a:r>
            <a:r>
              <a:rPr lang="de-DE" err="1"/>
              <a:t>sorted</a:t>
            </a:r>
            <a:r>
              <a:rPr lang="de-DE"/>
              <a:t> </a:t>
            </a:r>
            <a:r>
              <a:rPr lang="de-DE" err="1"/>
              <a:t>calculations</a:t>
            </a:r>
            <a:r>
              <a:rPr lang="de-DE"/>
              <a:t> </a:t>
            </a:r>
            <a:r>
              <a:rPr lang="de-DE" err="1"/>
              <a:t>that</a:t>
            </a:r>
            <a:r>
              <a:rPr lang="de-DE"/>
              <a:t> </a:t>
            </a:r>
            <a:r>
              <a:rPr lang="de-DE" err="1"/>
              <a:t>teach</a:t>
            </a:r>
            <a:r>
              <a:rPr lang="de-DE"/>
              <a:t> a </a:t>
            </a:r>
            <a:r>
              <a:rPr lang="de-DE" err="1"/>
              <a:t>model</a:t>
            </a:r>
            <a:r>
              <a:rPr lang="de-DE"/>
              <a:t> </a:t>
            </a:r>
            <a:r>
              <a:rPr lang="de-DE" err="1"/>
              <a:t>how</a:t>
            </a:r>
            <a:r>
              <a:rPr lang="de-DE"/>
              <a:t> to do DFT </a:t>
            </a:r>
            <a:r>
              <a:rPr lang="de-DE" err="1"/>
              <a:t>calculations</a:t>
            </a:r>
            <a:br>
              <a:rPr lang="de-DE"/>
            </a:br>
            <a:r>
              <a:rPr lang="de-DE"/>
              <a:t>The </a:t>
            </a:r>
            <a:r>
              <a:rPr lang="de-DE" err="1"/>
              <a:t>better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make</a:t>
            </a:r>
            <a:r>
              <a:rPr lang="de-DE"/>
              <a:t> </a:t>
            </a:r>
            <a:r>
              <a:rPr lang="de-DE" err="1"/>
              <a:t>these</a:t>
            </a:r>
            <a:r>
              <a:rPr lang="de-DE"/>
              <a:t> the </a:t>
            </a:r>
            <a:r>
              <a:rPr lang="de-DE" err="1"/>
              <a:t>better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get</a:t>
            </a:r>
            <a:r>
              <a:rPr lang="de-DE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540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030F4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en-GB" noProof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/>
              <a:t>Master-Untertitelformat bearbeiten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58E75EC-EF76-589D-0066-5EFD32568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B2228E-DECD-A1FF-31EB-394A35796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en-GB" noProof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/>
              <a:t>Master-Untertitelformat bearbeiten</a:t>
            </a:r>
            <a:endParaRPr lang="en-GB" noProof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800" y="1706400"/>
            <a:ext cx="9312374" cy="4545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9312374" cy="9727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775E03-BE23-9277-8686-60549E4E7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5711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 userDrawn="1">
          <p15:clr>
            <a:srgbClr val="F26B43"/>
          </p15:clr>
        </p15:guide>
        <p15:guide id="2" pos="3896" userDrawn="1">
          <p15:clr>
            <a:srgbClr val="F26B43"/>
          </p15:clr>
        </p15:guide>
        <p15:guide id="3" pos="4205" userDrawn="1">
          <p15:clr>
            <a:srgbClr val="F26B43"/>
          </p15:clr>
        </p15:guide>
        <p15:guide id="4" pos="6984" userDrawn="1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426127"/>
            <a:ext cx="6048672" cy="9727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/>
              <a:t>Click the icon to insert a picture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/>
              <a:t>Click the icon to insert a picture</a:t>
            </a:r>
          </a:p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426127"/>
            <a:ext cx="6865740" cy="9727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/>
              <a:t>Click the icon to insert a picture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/>
              <a:t>Click the icon to insert a picture</a:t>
            </a:r>
          </a:p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/>
              <a:t>Click the icon to insert a picture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/>
              <a:t>Click the icon to insert a picture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/>
              <a:t>Click the icon to insert a picture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A33A1D-DD6A-46E6-9477-D1471332CB1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030F4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030F4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030F4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030F4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426127"/>
            <a:ext cx="9312374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Mastertitelformat bearbeiten</a:t>
            </a:r>
            <a:endParaRPr lang="en-GB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113676" name="text"/>
          <p:cNvSpPr>
            <a:spLocks noChangeArrowheads="1"/>
          </p:cNvSpPr>
          <p:nvPr/>
        </p:nvSpPr>
        <p:spPr bwMode="auto">
          <a:xfrm>
            <a:off x="1774726" y="6541200"/>
            <a:ext cx="3397071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tudk.sharepoint.com/:p:/r/sites/templates/Office%20Templates/Danske%20skabeloner/Inspiration.potx?d=wd7cdab1ef1d4466aa89505319f80587c&amp;csf=1&amp;web=1&amp;e=lp2E2W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www.inside.dtu.dk/organisation/strategi-tal-og-fakta" TargetMode="External"/><Relationship Id="rId5" Type="http://schemas.openxmlformats.org/officeDocument/2006/relationships/hyperlink" Target="https://designguide.dtu.dk" TargetMode="External"/><Relationship Id="rId4" Type="http://schemas.openxmlformats.org/officeDocument/2006/relationships/hyperlink" Target="https://public.skyfish.com/p/dtu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tudk.sharepoint.com/:p:/r/sites/templates/Office%20Templates/Danske%20skabeloner/Inspiration.potx?d=wd7cdab1ef1d4466aa89505319f80587c&amp;csf=1&amp;web=1&amp;e=lp2E2W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www.inside.dtu.dk/organisation/strategi-tal-og-fakta" TargetMode="External"/><Relationship Id="rId5" Type="http://schemas.openxmlformats.org/officeDocument/2006/relationships/hyperlink" Target="https://designguide.dtu.dk" TargetMode="External"/><Relationship Id="rId4" Type="http://schemas.openxmlformats.org/officeDocument/2006/relationships/hyperlink" Target="https://public.skyfish.com/p/dtu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F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7364" y="952730"/>
            <a:ext cx="4577660" cy="80754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94875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with DTU's PowerPoint templates</a:t>
            </a:r>
            <a:endParaRPr lang="en-GB" sz="28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17364" y="2095582"/>
            <a:ext cx="609429" cy="189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 defTabSz="609539" fontAlgn="auto">
              <a:spcBef>
                <a:spcPts val="0"/>
              </a:spcBef>
              <a:spcAft>
                <a:spcPts val="0"/>
              </a:spcAft>
            </a:pPr>
            <a:endParaRPr lang="en-GB" sz="12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717364" y="2514627"/>
            <a:ext cx="4577660" cy="825393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templates give you DTU's colours, typography and logo from the start. On the right, you will find the material you typically need along the way.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717364" y="3835256"/>
            <a:ext cx="4577660" cy="558727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questions or special requirements, you are welcome to write to design@dtu.dk/contacts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17364" y="5079694"/>
            <a:ext cx="609429" cy="1260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lstStyle/>
          <a:p>
            <a:pPr defTabSz="609539" fontAlgn="auto">
              <a:spcBef>
                <a:spcPts val="0"/>
              </a:spcBef>
              <a:spcAft>
                <a:spcPts val="0"/>
              </a:spcAft>
            </a:pPr>
            <a:endParaRPr lang="en-GB" sz="12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7364" y="5333661"/>
            <a:ext cx="4577660" cy="558727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fontScale="92500"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slide is for guidance only. Delete it before you present — so the slide numbers on the other slides are correct.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587182" y="787652"/>
            <a:ext cx="12606" cy="5663372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pPr defTabSz="609539" fontAlgn="auto">
              <a:spcBef>
                <a:spcPts val="0"/>
              </a:spcBef>
              <a:spcAft>
                <a:spcPts val="0"/>
              </a:spcAft>
            </a:pPr>
            <a:endParaRPr lang="en-GB" sz="12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18923" y="764704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 slides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18923" y="1069464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slide structures you can reuse directly.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18923" y="1348828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Inspiration.potx</a:t>
            </a:r>
            <a:endParaRPr lang="en-GB" sz="1400">
              <a:solidFill>
                <a:schemeClr val="bg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18923" y="1916832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bank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18923" y="2221593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High-resolution photos for your presentations.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18923" y="2500956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18257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bank</a:t>
            </a:r>
            <a:endParaRPr lang="en-GB" sz="1400">
              <a:solidFill>
                <a:schemeClr val="bg1"/>
              </a:solidFill>
              <a:latin typeface="Arial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18923" y="2996952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guide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18923" y="3301712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behind the templates: logo, colours and typography.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18923" y="3581076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Design guide</a:t>
            </a:r>
            <a:endParaRPr lang="en-GB" sz="1400">
              <a:solidFill>
                <a:schemeClr val="bg1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18923" y="4149080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DTU's font, Neo Sans Pro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18923" y="4453840"/>
            <a:ext cx="5782727" cy="927163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install our font via Company Portal. Note: If you share your presentation with someone who does not have the font installed, the font will be replaced automatically.</a:t>
            </a:r>
          </a:p>
        </p:txBody>
      </p:sp>
      <p:sp>
        <p:nvSpPr>
          <p:cNvPr id="30" name="Text 28"/>
          <p:cNvSpPr/>
          <p:nvPr/>
        </p:nvSpPr>
        <p:spPr>
          <a:xfrm>
            <a:off x="6418923" y="5577151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presentation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418923" y="5881911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DTU in facts and figures, with speaker notes for your own presentation.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418923" y="6161274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DTU Inside</a:t>
            </a:r>
            <a:endParaRPr lang="en-GB" sz="1400">
              <a:solidFill>
                <a:schemeClr val="bg1"/>
              </a:solidFill>
              <a:latin typeface="Arial" panose="020F0502020204030204"/>
              <a:ea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E7A11E7-F6E9-1974-8E67-99B96933188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ACA4474-5E19-F675-1799-3ACDD8E2B2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6FFA4D6-0328-3186-5D3B-B62E11BC72D9}"/>
              </a:ext>
            </a:extLst>
          </p:cNvPr>
          <p:cNvSpPr/>
          <p:nvPr/>
        </p:nvSpPr>
        <p:spPr bwMode="auto">
          <a:xfrm>
            <a:off x="5840361" y="1779639"/>
            <a:ext cx="5132439" cy="3814916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ffffffffff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4E439B3-EE3C-CFCD-1C0F-D723AB01FCC8}"/>
              </a:ext>
            </a:extLst>
          </p:cNvPr>
          <p:cNvSpPr txBox="1"/>
          <p:nvPr/>
        </p:nvSpPr>
        <p:spPr>
          <a:xfrm flipH="1">
            <a:off x="6455540" y="1140334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Motivation &amp;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Broader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Context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1DED9EF-62DF-599E-157B-23A0443FE495}"/>
              </a:ext>
            </a:extLst>
          </p:cNvPr>
          <p:cNvSpPr txBox="1"/>
          <p:nvPr/>
        </p:nvSpPr>
        <p:spPr>
          <a:xfrm flipH="1">
            <a:off x="6459793" y="1656528"/>
            <a:ext cx="5319252" cy="345735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030F4F"/>
                </a:solidFill>
                <a:latin typeface="+mn-lt"/>
              </a:rPr>
              <a:t>For a long time the </a:t>
            </a:r>
            <a:r>
              <a:rPr lang="en-US">
                <a:solidFill>
                  <a:srgbClr val="030F4F"/>
                </a:solidFill>
                <a:latin typeface="+mn-lt"/>
              </a:rPr>
              <a:t>only possible way to model crystal </a:t>
            </a:r>
            <a:r>
              <a:rPr lang="en-US" err="1">
                <a:solidFill>
                  <a:srgbClr val="030F4F"/>
                </a:solidFill>
                <a:latin typeface="+mn-lt"/>
              </a:rPr>
              <a:t>structureswas</a:t>
            </a:r>
            <a:r>
              <a:rPr lang="en-US">
                <a:solidFill>
                  <a:srgbClr val="030F4F"/>
                </a:solidFill>
                <a:latin typeface="+mn-lt"/>
              </a:rPr>
              <a:t> quantum chemistry, DFT above all: accurate, but hours per structure </a:t>
            </a:r>
          </a:p>
          <a:p>
            <a:pPr marL="285750" indent="-285750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030F4F"/>
                </a:solidFill>
              </a:rPr>
              <a:t>MLIPs can be trained </a:t>
            </a:r>
            <a:r>
              <a:rPr lang="en-US">
                <a:solidFill>
                  <a:srgbClr val="030F4F"/>
                </a:solidFill>
              </a:rPr>
              <a:t>on DFT energies and forces of molecular and material structures</a:t>
            </a:r>
            <a:endParaRPr lang="en-US">
              <a:solidFill>
                <a:srgbClr val="030F4F"/>
              </a:solidFill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030F4F"/>
                </a:solidFill>
                <a:latin typeface="+mn-lt"/>
              </a:rPr>
              <a:t>Accurately approximate </a:t>
            </a:r>
            <a:r>
              <a:rPr lang="en-US">
                <a:solidFill>
                  <a:srgbClr val="030F4F"/>
                </a:solidFill>
                <a:latin typeface="+mn-lt"/>
              </a:rPr>
              <a:t>the DFT potential energy surface, at 10³ to 10⁶ times lower cost per evaluation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030F4F"/>
                </a:solidFill>
                <a:latin typeface="+mn-lt"/>
              </a:rPr>
              <a:t>Used for molecular dynamics</a:t>
            </a:r>
            <a:r>
              <a:rPr lang="en-US">
                <a:solidFill>
                  <a:srgbClr val="030F4F"/>
                </a:solidFill>
                <a:latin typeface="+mn-lt"/>
              </a:rPr>
              <a:t>, structure </a:t>
            </a:r>
            <a:r>
              <a:rPr lang="en-US" err="1">
                <a:solidFill>
                  <a:srgbClr val="030F4F"/>
                </a:solidFill>
                <a:latin typeface="+mn-lt"/>
              </a:rPr>
              <a:t>optimisation</a:t>
            </a:r>
            <a:r>
              <a:rPr lang="en-US">
                <a:solidFill>
                  <a:srgbClr val="030F4F"/>
                </a:solidFill>
                <a:latin typeface="+mn-lt"/>
              </a:rPr>
              <a:t> and </a:t>
            </a:r>
            <a:r>
              <a:rPr lang="en-US" b="1">
                <a:solidFill>
                  <a:srgbClr val="030F4F"/>
                </a:solidFill>
                <a:latin typeface="+mn-lt"/>
              </a:rPr>
              <a:t>high-throughput screening at DFT accuracy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The limit is the training data. Datasets held equilibrium structures; the transition-state region, where reactions are decided, was not in them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C5476E1-39DA-B92B-4800-5DD5774110F3}"/>
              </a:ext>
            </a:extLst>
          </p:cNvPr>
          <p:cNvSpPr txBox="1"/>
          <p:nvPr/>
        </p:nvSpPr>
        <p:spPr>
          <a:xfrm flipH="1">
            <a:off x="1529578" y="1140334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New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Battery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Electrolytes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660102C-756E-808B-8CCB-9A08335E9C42}"/>
              </a:ext>
            </a:extLst>
          </p:cNvPr>
          <p:cNvSpPr txBox="1"/>
          <p:nvPr/>
        </p:nvSpPr>
        <p:spPr>
          <a:xfrm flipH="1">
            <a:off x="1529578" y="1805286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New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Catalysts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0D84E9E-4D67-317A-9942-83939370DBBD}"/>
              </a:ext>
            </a:extLst>
          </p:cNvPr>
          <p:cNvSpPr txBox="1"/>
          <p:nvPr/>
        </p:nvSpPr>
        <p:spPr>
          <a:xfrm flipH="1">
            <a:off x="1529578" y="2427059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Understanding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Reaction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mechanism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DE8C598-A820-2CA9-401D-E52DEB3CA621}"/>
              </a:ext>
            </a:extLst>
          </p:cNvPr>
          <p:cNvSpPr txBox="1"/>
          <p:nvPr/>
        </p:nvSpPr>
        <p:spPr>
          <a:xfrm flipH="1">
            <a:off x="1529578" y="3528079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New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pharmaceuticals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81684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13A4D-500D-BB40-6D2D-72E9DD0C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28BC3A3-A20A-45AD-2925-6F940F6531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B66FA8-716B-E542-65F4-AEBE6BC2BFE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DEFED88-791E-29A7-7E69-4BC034053BB3}"/>
              </a:ext>
            </a:extLst>
          </p:cNvPr>
          <p:cNvSpPr/>
          <p:nvPr/>
        </p:nvSpPr>
        <p:spPr bwMode="auto">
          <a:xfrm>
            <a:off x="5840361" y="1779639"/>
            <a:ext cx="5132439" cy="3814916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ffffffffff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C043CC-D5F3-3268-606A-A793AAD3C0B3}"/>
              </a:ext>
            </a:extLst>
          </p:cNvPr>
          <p:cNvSpPr txBox="1"/>
          <p:nvPr/>
        </p:nvSpPr>
        <p:spPr>
          <a:xfrm flipH="1">
            <a:off x="6337553" y="1140334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Transition1x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solved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this</a:t>
            </a:r>
            <a:r>
              <a:rPr lang="de-DE">
                <a:solidFill>
                  <a:srgbClr val="030F4F"/>
                </a:solidFill>
                <a:latin typeface="+mn-lt"/>
              </a:rPr>
              <a:t> in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principle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E08C62-5F20-680C-4347-46249E6DF5C2}"/>
              </a:ext>
            </a:extLst>
          </p:cNvPr>
          <p:cNvSpPr txBox="1"/>
          <p:nvPr/>
        </p:nvSpPr>
        <p:spPr>
          <a:xfrm flipH="1">
            <a:off x="6341806" y="1656528"/>
            <a:ext cx="5319252" cy="187743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Built to close exactly that gap: reaction paths instead of equilibrium structures (this group, 2022)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10 073 reactions, 9.6 million DFT energies and forces, every NEB geometry kept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Its limit: ωB97X/6-31G(d), chosen for cost and ANI-1x compatibility, not for barrier accuracy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Upgrading the </a:t>
            </a:r>
            <a:r>
              <a:rPr lang="en-US" err="1">
                <a:solidFill>
                  <a:srgbClr val="030F4F"/>
                </a:solidFill>
                <a:latin typeface="+mn-lt"/>
              </a:rPr>
              <a:t>fideslity</a:t>
            </a:r>
            <a:r>
              <a:rPr lang="en-US">
                <a:solidFill>
                  <a:srgbClr val="030F4F"/>
                </a:solidFill>
                <a:latin typeface="+mn-lt"/>
              </a:rPr>
              <a:t> is desirable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749D2F8-2423-6C38-AB68-CD9DE34F2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5984" y="530526"/>
            <a:ext cx="1296792" cy="165182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A4CA1CC1-9141-3813-35D7-0AE2CC766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97362"/>
            <a:ext cx="7403690" cy="2961475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A492D77E-8BDE-123F-0573-3E425F784A68}"/>
              </a:ext>
            </a:extLst>
          </p:cNvPr>
          <p:cNvSpPr/>
          <p:nvPr/>
        </p:nvSpPr>
        <p:spPr bwMode="auto">
          <a:xfrm>
            <a:off x="-274955" y="5239579"/>
            <a:ext cx="1238516" cy="1238516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Molecules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8909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36B56-EAFF-BF41-E846-4AC129FA1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860F0233-3D37-3FE4-18CA-7D9B8C3FF4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2F8A7C6-6D62-31FA-D48E-FB4A68EC80D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624B641-9D65-B9B9-6DB3-F5AE53792DD4}"/>
              </a:ext>
            </a:extLst>
          </p:cNvPr>
          <p:cNvSpPr/>
          <p:nvPr/>
        </p:nvSpPr>
        <p:spPr bwMode="auto">
          <a:xfrm>
            <a:off x="5840361" y="1779639"/>
            <a:ext cx="5132439" cy="3814916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ffffffffff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D23E54A-CF84-89F5-5671-93DB2DA02742}"/>
              </a:ext>
            </a:extLst>
          </p:cNvPr>
          <p:cNvSpPr txBox="1"/>
          <p:nvPr/>
        </p:nvSpPr>
        <p:spPr>
          <a:xfrm flipH="1">
            <a:off x="3746753" y="580864"/>
            <a:ext cx="6733769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How do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we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assign</a:t>
            </a:r>
            <a:r>
              <a:rPr lang="de-DE">
                <a:solidFill>
                  <a:srgbClr val="030F4F"/>
                </a:solidFill>
                <a:latin typeface="+mn-lt"/>
              </a:rPr>
              <a:t> a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given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molecular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geometry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energies</a:t>
            </a:r>
            <a:r>
              <a:rPr lang="de-DE">
                <a:solidFill>
                  <a:srgbClr val="030F4F"/>
                </a:solidFill>
                <a:latin typeface="+mn-lt"/>
              </a:rPr>
              <a:t> and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forces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more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accurately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35C8B5D-2D91-C828-8EA9-F84C18EAED51}"/>
              </a:ext>
            </a:extLst>
          </p:cNvPr>
          <p:cNvSpPr txBox="1"/>
          <p:nvPr/>
        </p:nvSpPr>
        <p:spPr>
          <a:xfrm flipH="1">
            <a:off x="4671313" y="5257114"/>
            <a:ext cx="335337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Any change gives more accurate calculations and can be used to achieve a higher </a:t>
            </a:r>
            <a:r>
              <a:rPr lang="en-US" err="1">
                <a:solidFill>
                  <a:srgbClr val="030F4F"/>
                </a:solidFill>
                <a:latin typeface="+mn-lt"/>
              </a:rPr>
              <a:t>accurace</a:t>
            </a:r>
            <a:r>
              <a:rPr lang="en-US">
                <a:solidFill>
                  <a:srgbClr val="030F4F"/>
                </a:solidFill>
                <a:latin typeface="+mn-lt"/>
              </a:rPr>
              <a:t> model 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57434235-C672-348A-D0EC-8E39BF34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00" y="950196"/>
            <a:ext cx="12192000" cy="443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15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22042-B191-E7DF-31B1-3D46BA38E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32CDC5F-7CF5-C470-EAC2-6ACBEB632A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C556E1B-E330-7FC2-18C7-C0E82AA11D6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109C25C-5137-555B-8D24-1E17A8BA7A2B}"/>
              </a:ext>
            </a:extLst>
          </p:cNvPr>
          <p:cNvSpPr/>
          <p:nvPr/>
        </p:nvSpPr>
        <p:spPr bwMode="auto">
          <a:xfrm>
            <a:off x="5840361" y="1779639"/>
            <a:ext cx="5132439" cy="3814916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ffffffffff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CB74C09-EC24-F4AB-B1EB-A9821EFD0A07}"/>
              </a:ext>
            </a:extLst>
          </p:cNvPr>
          <p:cNvSpPr txBox="1"/>
          <p:nvPr/>
        </p:nvSpPr>
        <p:spPr>
          <a:xfrm flipH="1">
            <a:off x="6341806" y="1186104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de-DE" err="1">
                <a:solidFill>
                  <a:srgbClr val="030F4F"/>
                </a:solidFill>
                <a:latin typeface="+mn-lt"/>
              </a:rPr>
              <a:t>Relabelling</a:t>
            </a:r>
            <a:r>
              <a:rPr lang="de-DE">
                <a:solidFill>
                  <a:srgbClr val="030F4F"/>
                </a:solidFill>
                <a:latin typeface="+mn-lt"/>
              </a:rPr>
              <a:t>: </a:t>
            </a:r>
            <a:r>
              <a:rPr lang="de-AT" b="1"/>
              <a:t>Upgrading the </a:t>
            </a:r>
            <a:r>
              <a:rPr lang="de-AT" b="1" err="1"/>
              <a:t>level</a:t>
            </a:r>
            <a:r>
              <a:rPr lang="de-AT" b="1"/>
              <a:t> </a:t>
            </a:r>
            <a:r>
              <a:rPr lang="de-AT" b="1" err="1"/>
              <a:t>without</a:t>
            </a:r>
            <a:r>
              <a:rPr lang="de-AT" b="1"/>
              <a:t> </a:t>
            </a:r>
            <a:r>
              <a:rPr lang="de-AT" b="1" err="1"/>
              <a:t>redoing</a:t>
            </a:r>
            <a:r>
              <a:rPr lang="de-AT" b="1"/>
              <a:t> the </a:t>
            </a:r>
            <a:r>
              <a:rPr lang="de-AT" b="1" err="1"/>
              <a:t>paths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2EF8E8-C78B-218A-9794-DDAAEC22A217}"/>
              </a:ext>
            </a:extLst>
          </p:cNvPr>
          <p:cNvSpPr txBox="1"/>
          <p:nvPr/>
        </p:nvSpPr>
        <p:spPr>
          <a:xfrm flipH="1">
            <a:off x="6341806" y="1656528"/>
            <a:ext cx="5319252" cy="21749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Redoing the searches at the better level: hundreds of gradients per reaction, not an option for ten thousand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Only the labels depend on the level of theory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err="1">
                <a:solidFill>
                  <a:srgbClr val="030F4F"/>
                </a:solidFill>
                <a:latin typeface="+mn-lt"/>
              </a:rPr>
              <a:t>Relabelling</a:t>
            </a:r>
            <a:r>
              <a:rPr lang="en-US">
                <a:solidFill>
                  <a:srgbClr val="030F4F"/>
                </a:solidFill>
                <a:latin typeface="+mn-lt"/>
              </a:rPr>
              <a:t>: keep the geometries, one single point each at the better level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30F4F"/>
                </a:solidFill>
                <a:latin typeface="+mn-lt"/>
              </a:rPr>
              <a:t>This is how the field generally raises fidelity</a:t>
            </a:r>
          </a:p>
          <a:p>
            <a:pPr marL="285750" indent="-285750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de-AT"/>
              <a:t>OMol25 (2025) </a:t>
            </a:r>
            <a:r>
              <a:rPr lang="de-AT" err="1"/>
              <a:t>did</a:t>
            </a:r>
            <a:r>
              <a:rPr lang="de-AT"/>
              <a:t> it for all of Transition1x, at ωB97M-V/def2-TZVPD, </a:t>
            </a:r>
            <a:r>
              <a:rPr lang="de-AT" err="1"/>
              <a:t>computed</a:t>
            </a:r>
            <a:r>
              <a:rPr lang="de-AT"/>
              <a:t> </a:t>
            </a:r>
            <a:r>
              <a:rPr lang="de-AT" err="1"/>
              <a:t>unrestricted</a:t>
            </a:r>
            <a:endParaRPr lang="de-AT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422D1A4-8637-1BED-AD27-13F785180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9711" y="2176370"/>
            <a:ext cx="6263148" cy="2505259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C6CB5EE-156E-2029-302A-7A6091E27E1D}"/>
              </a:ext>
            </a:extLst>
          </p:cNvPr>
          <p:cNvSpPr txBox="1"/>
          <p:nvPr/>
        </p:nvSpPr>
        <p:spPr>
          <a:xfrm flipH="1">
            <a:off x="1209367" y="1186104"/>
            <a:ext cx="6733769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de-AT">
                <a:solidFill>
                  <a:srgbClr val="030F4F"/>
                </a:solidFill>
                <a:latin typeface="+mn-lt"/>
              </a:rPr>
              <a:t>How </a:t>
            </a:r>
            <a:r>
              <a:rPr lang="de-AT" err="1">
                <a:solidFill>
                  <a:srgbClr val="030F4F"/>
                </a:solidFill>
                <a:latin typeface="+mn-lt"/>
              </a:rPr>
              <a:t>cab</a:t>
            </a:r>
            <a:r>
              <a:rPr lang="de-AT">
                <a:solidFill>
                  <a:srgbClr val="030F4F"/>
                </a:solidFill>
                <a:latin typeface="+mn-lt"/>
              </a:rPr>
              <a:t> </a:t>
            </a:r>
            <a:r>
              <a:rPr lang="de-AT" err="1">
                <a:solidFill>
                  <a:srgbClr val="030F4F"/>
                </a:solidFill>
                <a:latin typeface="+mn-lt"/>
              </a:rPr>
              <a:t>we</a:t>
            </a:r>
            <a:r>
              <a:rPr lang="de-AT">
                <a:solidFill>
                  <a:srgbClr val="030F4F"/>
                </a:solidFill>
                <a:latin typeface="+mn-lt"/>
              </a:rPr>
              <a:t> upgrade the </a:t>
            </a:r>
            <a:r>
              <a:rPr lang="de-AT" err="1">
                <a:solidFill>
                  <a:srgbClr val="030F4F"/>
                </a:solidFill>
                <a:latin typeface="+mn-lt"/>
              </a:rPr>
              <a:t>level</a:t>
            </a:r>
            <a:r>
              <a:rPr lang="de-AT">
                <a:solidFill>
                  <a:srgbClr val="030F4F"/>
                </a:solidFill>
                <a:latin typeface="+mn-lt"/>
              </a:rPr>
              <a:t> of </a:t>
            </a:r>
            <a:r>
              <a:rPr lang="de-AT" err="1">
                <a:solidFill>
                  <a:srgbClr val="030F4F"/>
                </a:solidFill>
                <a:latin typeface="+mn-lt"/>
              </a:rPr>
              <a:t>theory</a:t>
            </a:r>
            <a:r>
              <a:rPr lang="de-AT">
                <a:solidFill>
                  <a:srgbClr val="030F4F"/>
                </a:solidFill>
                <a:latin typeface="+mn-lt"/>
              </a:rPr>
              <a:t> for a </a:t>
            </a:r>
            <a:r>
              <a:rPr lang="de-AT" err="1">
                <a:solidFill>
                  <a:srgbClr val="030F4F"/>
                </a:solidFill>
                <a:latin typeface="+mn-lt"/>
              </a:rPr>
              <a:t>given</a:t>
            </a:r>
            <a:r>
              <a:rPr lang="de-AT">
                <a:solidFill>
                  <a:srgbClr val="030F4F"/>
                </a:solidFill>
                <a:latin typeface="+mn-lt"/>
              </a:rPr>
              <a:t> </a:t>
            </a:r>
            <a:br>
              <a:rPr lang="de-AT">
                <a:solidFill>
                  <a:srgbClr val="030F4F"/>
                </a:solidFill>
                <a:latin typeface="+mn-lt"/>
              </a:rPr>
            </a:br>
            <a:r>
              <a:rPr lang="de-AT">
                <a:solidFill>
                  <a:srgbClr val="030F4F"/>
                </a:solidFill>
                <a:latin typeface="+mn-lt"/>
              </a:rPr>
              <a:t>Dataset 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5557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57483A-95CF-D5EA-F399-EC8B11F6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85C0F79-B788-AF12-1AC7-E984A249AA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C76F3A-603D-2687-FD31-2BA6401CC80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4E85D0-221B-BA65-5DAE-E06A640D35D7}"/>
              </a:ext>
            </a:extLst>
          </p:cNvPr>
          <p:cNvSpPr/>
          <p:nvPr/>
        </p:nvSpPr>
        <p:spPr bwMode="auto">
          <a:xfrm>
            <a:off x="5840361" y="1779639"/>
            <a:ext cx="5132439" cy="3814916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ffffffffff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2F8AC9E-18B4-675C-CFB9-79E88BECFC9A}"/>
              </a:ext>
            </a:extLst>
          </p:cNvPr>
          <p:cNvSpPr txBox="1"/>
          <p:nvPr/>
        </p:nvSpPr>
        <p:spPr>
          <a:xfrm flipH="1">
            <a:off x="6341806" y="685137"/>
            <a:ext cx="6733769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de-AT" b="1"/>
              <a:t>Research </a:t>
            </a:r>
            <a:r>
              <a:rPr lang="de-AT" b="1" err="1"/>
              <a:t>question</a:t>
            </a:r>
            <a:r>
              <a:rPr lang="de-AT" b="1"/>
              <a:t> 2 (RQ2):</a:t>
            </a:r>
            <a:r>
              <a:rPr lang="de-AT"/>
              <a:t> Can a </a:t>
            </a:r>
            <a:r>
              <a:rPr lang="de-AT" err="1"/>
              <a:t>model</a:t>
            </a:r>
            <a:r>
              <a:rPr lang="de-AT"/>
              <a:t> </a:t>
            </a:r>
            <a:r>
              <a:rPr lang="de-AT" err="1"/>
              <a:t>learn</a:t>
            </a:r>
            <a:r>
              <a:rPr lang="de-AT"/>
              <a:t> a </a:t>
            </a:r>
            <a:r>
              <a:rPr lang="de-AT" err="1"/>
              <a:t>surface</a:t>
            </a:r>
            <a:r>
              <a:rPr lang="de-AT"/>
              <a:t> </a:t>
            </a:r>
            <a:r>
              <a:rPr lang="de-AT" err="1"/>
              <a:t>from</a:t>
            </a:r>
            <a:r>
              <a:rPr lang="de-AT"/>
              <a:t> </a:t>
            </a:r>
            <a:r>
              <a:rPr lang="de-AT" err="1"/>
              <a:t>paths</a:t>
            </a:r>
            <a:r>
              <a:rPr lang="de-AT"/>
              <a:t> </a:t>
            </a:r>
            <a:r>
              <a:rPr lang="de-AT" err="1"/>
              <a:t>that</a:t>
            </a:r>
            <a:r>
              <a:rPr lang="de-AT"/>
              <a:t> </a:t>
            </a:r>
            <a:r>
              <a:rPr lang="de-AT" err="1"/>
              <a:t>were</a:t>
            </a:r>
            <a:r>
              <a:rPr lang="de-AT"/>
              <a:t> </a:t>
            </a:r>
            <a:r>
              <a:rPr lang="de-AT" err="1"/>
              <a:t>never</a:t>
            </a:r>
            <a:r>
              <a:rPr lang="de-AT"/>
              <a:t> relaxed on </a:t>
            </a:r>
            <a:r>
              <a:rPr lang="de-AT" err="1"/>
              <a:t>that</a:t>
            </a:r>
            <a:r>
              <a:rPr lang="de-AT"/>
              <a:t> </a:t>
            </a:r>
            <a:r>
              <a:rPr lang="de-AT" err="1"/>
              <a:t>surface</a:t>
            </a:r>
            <a:r>
              <a:rPr lang="de-AT"/>
              <a:t>?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423ECE4-5D38-E6B0-D0D6-4406811E899F}"/>
              </a:ext>
            </a:extLst>
          </p:cNvPr>
          <p:cNvSpPr txBox="1"/>
          <p:nvPr/>
        </p:nvSpPr>
        <p:spPr>
          <a:xfrm flipH="1">
            <a:off x="804600" y="685137"/>
            <a:ext cx="52914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de-AT" b="1"/>
              <a:t>Research </a:t>
            </a:r>
            <a:r>
              <a:rPr lang="de-AT" b="1" err="1"/>
              <a:t>question</a:t>
            </a:r>
            <a:r>
              <a:rPr lang="de-AT" b="1"/>
              <a:t> 1 (RQ1):</a:t>
            </a:r>
            <a:r>
              <a:rPr lang="de-AT"/>
              <a:t> Can a </a:t>
            </a:r>
            <a:r>
              <a:rPr lang="de-AT" err="1"/>
              <a:t>model</a:t>
            </a:r>
            <a:r>
              <a:rPr lang="de-AT"/>
              <a:t> </a:t>
            </a:r>
            <a:r>
              <a:rPr lang="de-AT" err="1"/>
              <a:t>be</a:t>
            </a:r>
            <a:r>
              <a:rPr lang="de-AT"/>
              <a:t> </a:t>
            </a:r>
            <a:r>
              <a:rPr lang="de-AT" err="1"/>
              <a:t>lifted</a:t>
            </a:r>
            <a:r>
              <a:rPr lang="de-AT"/>
              <a:t> to a </a:t>
            </a:r>
            <a:r>
              <a:rPr lang="de-AT" err="1"/>
              <a:t>higher</a:t>
            </a:r>
            <a:r>
              <a:rPr lang="de-AT"/>
              <a:t> </a:t>
            </a:r>
            <a:r>
              <a:rPr lang="de-AT" err="1"/>
              <a:t>level</a:t>
            </a:r>
            <a:r>
              <a:rPr lang="de-AT"/>
              <a:t> of </a:t>
            </a:r>
            <a:r>
              <a:rPr lang="de-AT" err="1"/>
              <a:t>theory</a:t>
            </a:r>
            <a:r>
              <a:rPr lang="de-AT"/>
              <a:t> by </a:t>
            </a:r>
            <a:r>
              <a:rPr lang="de-AT" err="1"/>
              <a:t>relabelling</a:t>
            </a:r>
            <a:r>
              <a:rPr lang="de-AT"/>
              <a:t> </a:t>
            </a:r>
            <a:r>
              <a:rPr lang="de-AT" err="1"/>
              <a:t>only</a:t>
            </a:r>
            <a:r>
              <a:rPr lang="de-AT"/>
              <a:t> a </a:t>
            </a:r>
            <a:r>
              <a:rPr lang="de-AT" err="1"/>
              <a:t>subset</a:t>
            </a:r>
            <a:r>
              <a:rPr lang="de-AT"/>
              <a:t> of </a:t>
            </a:r>
            <a:r>
              <a:rPr lang="de-AT" err="1"/>
              <a:t>its</a:t>
            </a:r>
            <a:r>
              <a:rPr lang="de-AT"/>
              <a:t> </a:t>
            </a:r>
            <a:r>
              <a:rPr lang="de-AT" err="1"/>
              <a:t>training</a:t>
            </a:r>
            <a:r>
              <a:rPr lang="de-AT"/>
              <a:t> </a:t>
            </a:r>
            <a:r>
              <a:rPr lang="de-AT" err="1"/>
              <a:t>data</a:t>
            </a:r>
            <a:r>
              <a:rPr lang="de-AT"/>
              <a:t>?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FE1E7B6-5933-C35E-DACD-25BF55E13A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43" b="9001"/>
          <a:stretch>
            <a:fillRect/>
          </a:stretch>
        </p:blipFill>
        <p:spPr>
          <a:xfrm>
            <a:off x="7253728" y="3873961"/>
            <a:ext cx="4196200" cy="272103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59452AC-DE6D-0A7E-AE7E-649E60979A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738"/>
          <a:stretch>
            <a:fillRect/>
          </a:stretch>
        </p:blipFill>
        <p:spPr>
          <a:xfrm>
            <a:off x="506031" y="4050136"/>
            <a:ext cx="4116523" cy="280786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0E0644E5-334B-F84B-C67C-C4C596ACCB9D}"/>
              </a:ext>
            </a:extLst>
          </p:cNvPr>
          <p:cNvSpPr txBox="1"/>
          <p:nvPr/>
        </p:nvSpPr>
        <p:spPr>
          <a:xfrm flipH="1">
            <a:off x="6341806" y="1603030"/>
            <a:ext cx="673376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de-AT" b="1"/>
              <a:t>To </a:t>
            </a:r>
            <a:r>
              <a:rPr lang="de-AT" b="1" err="1"/>
              <a:t>investigate</a:t>
            </a:r>
            <a:r>
              <a:rPr lang="de-AT" b="1"/>
              <a:t> </a:t>
            </a:r>
            <a:r>
              <a:rPr lang="de-AT" b="1" err="1"/>
              <a:t>we</a:t>
            </a:r>
            <a:r>
              <a:rPr lang="de-AT" b="1"/>
              <a:t>….</a:t>
            </a:r>
            <a:endParaRPr lang="de-AT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9946A63-D4A7-38DF-FCE1-AB9010FCC8EB}"/>
              </a:ext>
            </a:extLst>
          </p:cNvPr>
          <p:cNvSpPr txBox="1"/>
          <p:nvPr/>
        </p:nvSpPr>
        <p:spPr>
          <a:xfrm flipH="1">
            <a:off x="804600" y="1603030"/>
            <a:ext cx="5291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de-AT" b="1">
                <a:solidFill>
                  <a:srgbClr val="030F4F"/>
                </a:solidFill>
                <a:latin typeface="+mn-lt"/>
              </a:rPr>
              <a:t>To </a:t>
            </a:r>
            <a:r>
              <a:rPr lang="de-AT" b="1" err="1">
                <a:solidFill>
                  <a:srgbClr val="030F4F"/>
                </a:solidFill>
                <a:latin typeface="+mn-lt"/>
              </a:rPr>
              <a:t>investigate</a:t>
            </a:r>
            <a:r>
              <a:rPr lang="de-AT" b="1">
                <a:solidFill>
                  <a:srgbClr val="030F4F"/>
                </a:solidFill>
                <a:latin typeface="+mn-lt"/>
              </a:rPr>
              <a:t> </a:t>
            </a:r>
            <a:r>
              <a:rPr lang="de-AT" b="1" err="1">
                <a:solidFill>
                  <a:srgbClr val="030F4F"/>
                </a:solidFill>
                <a:latin typeface="+mn-lt"/>
              </a:rPr>
              <a:t>we</a:t>
            </a:r>
            <a:r>
              <a:rPr lang="de-AT" b="1">
                <a:solidFill>
                  <a:srgbClr val="030F4F"/>
                </a:solidFill>
                <a:latin typeface="+mn-lt"/>
              </a:rPr>
              <a:t>…..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1E94EF78-16AB-0E6A-B77D-E3AE43ECF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00" y="2061002"/>
            <a:ext cx="5231321" cy="1900829"/>
          </a:xfrm>
          <a:prstGeom prst="rect">
            <a:avLst/>
          </a:prstGeom>
        </p:spPr>
      </p:pic>
      <p:sp>
        <p:nvSpPr>
          <p:cNvPr id="18" name="Rechteck 17">
            <a:extLst>
              <a:ext uri="{FF2B5EF4-FFF2-40B4-BE49-F238E27FC236}">
                <a16:creationId xmlns:a16="http://schemas.microsoft.com/office/drawing/2014/main" id="{B5FD08EA-50AD-0647-ADE8-86ECB463EB43}"/>
              </a:ext>
            </a:extLst>
          </p:cNvPr>
          <p:cNvSpPr/>
          <p:nvPr/>
        </p:nvSpPr>
        <p:spPr bwMode="auto">
          <a:xfrm>
            <a:off x="707779" y="3229362"/>
            <a:ext cx="5388221" cy="738664"/>
          </a:xfrm>
          <a:prstGeom prst="rect">
            <a:avLst/>
          </a:prstGeom>
          <a:solidFill>
            <a:schemeClr val="bg1">
              <a:alpha val="63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1600" b="0" i="0" u="none" strike="noStrike" cap="none" normalizeH="0" baseline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E6FF1EBA-1CD2-3C68-3919-C9E6CB608E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627" y="2061002"/>
            <a:ext cx="5231321" cy="190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350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Two ways to relabel Transition1x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7360" y="1508760"/>
            <a:ext cx="4892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30F4F"/>
                </a:solidFill>
              </a:rPr>
              <a:t>RQ1   </a:t>
            </a:r>
            <a:r>
              <a:rPr sz="1400" b="1" i="0">
                <a:solidFill>
                  <a:srgbClr val="222222"/>
                </a:solidFill>
              </a:rPr>
              <a:t>Can a model be lifted to a higher level of theory by relabelling only a subset of its training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2377440"/>
            <a:ext cx="4892040" cy="1291123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30F4F"/>
                </a:solidFill>
              </a:rPr>
              <a:t>To investigate </a:t>
            </a:r>
            <a:r>
              <a:rPr sz="1300" b="1" i="0">
                <a:solidFill>
                  <a:srgbClr val="222222"/>
                </a:solidFill>
              </a:rPr>
              <a:t>we </a:t>
            </a:r>
            <a:r>
              <a:rPr lang="de-AT" sz="1300" b="1" i="0" err="1">
                <a:solidFill>
                  <a:srgbClr val="222222"/>
                </a:solidFill>
              </a:rPr>
              <a:t>build</a:t>
            </a:r>
            <a:r>
              <a:rPr lang="de-AT" sz="1300" b="1" i="0">
                <a:solidFill>
                  <a:srgbClr val="222222"/>
                </a:solidFill>
              </a:rPr>
              <a:t> a Delta </a:t>
            </a:r>
            <a:r>
              <a:rPr lang="de-AT" sz="1300" b="1" i="0" err="1">
                <a:solidFill>
                  <a:srgbClr val="222222"/>
                </a:solidFill>
              </a:rPr>
              <a:t>Correction</a:t>
            </a:r>
            <a:r>
              <a:rPr lang="de-AT" sz="1300" b="1" i="0">
                <a:solidFill>
                  <a:srgbClr val="222222"/>
                </a:solidFill>
              </a:rPr>
              <a:t> Model</a:t>
            </a: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de-AT" sz="1300" b="1" i="0" err="1">
                <a:solidFill>
                  <a:srgbClr val="222222"/>
                </a:solidFill>
              </a:rPr>
              <a:t>relabel</a:t>
            </a:r>
            <a:r>
              <a:rPr lang="de-AT" sz="1300" b="1" i="0">
                <a:solidFill>
                  <a:srgbClr val="222222"/>
                </a:solidFill>
              </a:rPr>
              <a:t> </a:t>
            </a:r>
            <a:r>
              <a:rPr sz="1300" b="0" i="0">
                <a:solidFill>
                  <a:srgbClr val="222222"/>
                </a:solidFill>
              </a:rPr>
              <a:t>a subset and train</a:t>
            </a:r>
            <a:endParaRPr lang="de-AT" sz="1300" b="0" i="0">
              <a:solidFill>
                <a:srgbClr val="222222"/>
              </a:solidFill>
            </a:endParaRP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de-AT" sz="1300" b="1">
                <a:solidFill>
                  <a:srgbClr val="222222"/>
                </a:solidFill>
              </a:rPr>
              <a:t>Train </a:t>
            </a:r>
            <a:r>
              <a:rPr lang="de-AT" sz="1300" b="1" err="1">
                <a:solidFill>
                  <a:srgbClr val="222222"/>
                </a:solidFill>
              </a:rPr>
              <a:t>correction</a:t>
            </a:r>
            <a:r>
              <a:rPr lang="de-AT" sz="1300" b="1">
                <a:solidFill>
                  <a:srgbClr val="222222"/>
                </a:solidFill>
              </a:rPr>
              <a:t> </a:t>
            </a:r>
            <a:r>
              <a:rPr lang="de-AT" sz="1300" b="1" err="1">
                <a:solidFill>
                  <a:srgbClr val="222222"/>
                </a:solidFill>
              </a:rPr>
              <a:t>head</a:t>
            </a:r>
            <a:r>
              <a:rPr lang="de-AT" sz="1300" b="1">
                <a:solidFill>
                  <a:srgbClr val="222222"/>
                </a:solidFill>
              </a:rPr>
              <a:t> </a:t>
            </a:r>
            <a:r>
              <a:rPr lang="de-AT" sz="1300">
                <a:solidFill>
                  <a:srgbClr val="222222"/>
                </a:solidFill>
              </a:rPr>
              <a:t>to </a:t>
            </a:r>
            <a:r>
              <a:rPr lang="de-AT" sz="1300" err="1">
                <a:solidFill>
                  <a:srgbClr val="222222"/>
                </a:solidFill>
              </a:rPr>
              <a:t>correct</a:t>
            </a:r>
            <a:r>
              <a:rPr lang="de-AT" sz="1300">
                <a:solidFill>
                  <a:srgbClr val="222222"/>
                </a:solidFill>
              </a:rPr>
              <a:t> to the </a:t>
            </a:r>
            <a:r>
              <a:rPr lang="de-AT" sz="1300" err="1">
                <a:solidFill>
                  <a:srgbClr val="222222"/>
                </a:solidFill>
              </a:rPr>
              <a:t>higher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level</a:t>
            </a:r>
            <a:r>
              <a:rPr lang="de-AT" sz="1300">
                <a:solidFill>
                  <a:srgbClr val="222222"/>
                </a:solidFill>
              </a:rPr>
              <a:t> of </a:t>
            </a:r>
            <a:r>
              <a:rPr lang="de-AT" sz="1300" err="1">
                <a:solidFill>
                  <a:srgbClr val="222222"/>
                </a:solidFill>
              </a:rPr>
              <a:t>theory</a:t>
            </a:r>
            <a:endParaRPr lang="de-AT" sz="1300">
              <a:solidFill>
                <a:srgbClr val="222222"/>
              </a:solidFill>
            </a:endParaRP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de-AT" sz="1300" i="0">
                <a:solidFill>
                  <a:srgbClr val="222222"/>
                </a:solidFill>
              </a:rPr>
              <a:t>Test it</a:t>
            </a:r>
          </a:p>
        </p:txBody>
      </p:sp>
      <p:pic>
        <p:nvPicPr>
          <p:cNvPr id="5" name="Picture 4" descr="pic_table_r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4026310"/>
            <a:ext cx="2331720" cy="924470"/>
          </a:xfrm>
          <a:prstGeom prst="rect">
            <a:avLst/>
          </a:prstGeom>
        </p:spPr>
      </p:pic>
      <p:pic>
        <p:nvPicPr>
          <p:cNvPr id="6" name="Picture 5" descr="pic_rq1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797710"/>
            <a:ext cx="2686050" cy="2148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03720" y="1508760"/>
            <a:ext cx="4892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0731F"/>
                </a:solidFill>
              </a:rPr>
              <a:t>RQ2   </a:t>
            </a:r>
            <a:r>
              <a:rPr sz="1400" b="1" i="0">
                <a:solidFill>
                  <a:srgbClr val="222222"/>
                </a:solidFill>
              </a:rPr>
              <a:t>Can a model learn a surface from paths that were never relaxed on that surface?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377440"/>
            <a:ext cx="4892040" cy="209134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0731F"/>
                </a:solidFill>
              </a:rPr>
              <a:t>To investigate we test </a:t>
            </a:r>
            <a:r>
              <a:rPr sz="1300" b="0" i="0">
                <a:solidFill>
                  <a:srgbClr val="222222"/>
                </a:solidFill>
              </a:rPr>
              <a:t>the OMol25 models</a:t>
            </a:r>
            <a:r>
              <a:rPr lang="de-AT" sz="1300" b="0" i="0">
                <a:solidFill>
                  <a:srgbClr val="222222"/>
                </a:solidFill>
              </a:rPr>
              <a:t> on </a:t>
            </a:r>
            <a:r>
              <a:rPr lang="de-AT" sz="1300" b="0" i="0" err="1">
                <a:solidFill>
                  <a:srgbClr val="222222"/>
                </a:solidFill>
              </a:rPr>
              <a:t>their</a:t>
            </a:r>
            <a:r>
              <a:rPr lang="de-AT" sz="1300" b="0" i="0">
                <a:solidFill>
                  <a:srgbClr val="222222"/>
                </a:solidFill>
              </a:rPr>
              <a:t> </a:t>
            </a:r>
            <a:r>
              <a:rPr lang="de-AT" sz="1300" b="0" i="0" err="1">
                <a:solidFill>
                  <a:srgbClr val="222222"/>
                </a:solidFill>
              </a:rPr>
              <a:t>performance</a:t>
            </a:r>
            <a:r>
              <a:rPr lang="de-AT" sz="1300" b="0" i="0">
                <a:solidFill>
                  <a:srgbClr val="222222"/>
                </a:solidFill>
              </a:rPr>
              <a:t> on Broken </a:t>
            </a:r>
            <a:r>
              <a:rPr lang="de-AT" sz="1300" b="0" i="0" err="1">
                <a:solidFill>
                  <a:srgbClr val="222222"/>
                </a:solidFill>
              </a:rPr>
              <a:t>Symmetry</a:t>
            </a:r>
            <a:r>
              <a:rPr lang="de-AT" sz="1300" b="0" i="0">
                <a:solidFill>
                  <a:srgbClr val="222222"/>
                </a:solidFill>
              </a:rPr>
              <a:t> </a:t>
            </a:r>
            <a:r>
              <a:rPr lang="de-AT" sz="1300" b="0" i="0" err="1">
                <a:solidFill>
                  <a:srgbClr val="222222"/>
                </a:solidFill>
              </a:rPr>
              <a:t>states</a:t>
            </a:r>
            <a:endParaRPr lang="de-AT" sz="1300">
              <a:solidFill>
                <a:srgbClr val="222222"/>
              </a:solidFill>
            </a:endParaRP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de-AT" sz="1300">
                <a:solidFill>
                  <a:srgbClr val="222222"/>
                </a:solidFill>
              </a:rPr>
              <a:t>Omol25 </a:t>
            </a:r>
            <a:r>
              <a:rPr lang="de-AT" sz="1300" err="1">
                <a:solidFill>
                  <a:srgbClr val="222222"/>
                </a:solidFill>
              </a:rPr>
              <a:t>relabelled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paths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searched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restricted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with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unrestricted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labels</a:t>
            </a:r>
            <a:r>
              <a:rPr lang="de-AT" sz="1300">
                <a:solidFill>
                  <a:srgbClr val="222222"/>
                </a:solidFill>
              </a:rPr>
              <a:t> so </a:t>
            </a:r>
            <a:r>
              <a:rPr lang="de-AT" sz="1300" err="1">
                <a:solidFill>
                  <a:srgbClr val="222222"/>
                </a:solidFill>
              </a:rPr>
              <a:t>their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models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can</a:t>
            </a:r>
            <a:r>
              <a:rPr lang="de-AT" sz="1300">
                <a:solidFill>
                  <a:srgbClr val="222222"/>
                </a:solidFill>
              </a:rPr>
              <a:t> find Broken Spin </a:t>
            </a:r>
            <a:r>
              <a:rPr lang="de-AT" sz="1300" err="1">
                <a:solidFill>
                  <a:srgbClr val="222222"/>
                </a:solidFill>
              </a:rPr>
              <a:t>Symmetry</a:t>
            </a:r>
            <a:r>
              <a:rPr lang="de-AT" sz="1300">
                <a:solidFill>
                  <a:srgbClr val="222222"/>
                </a:solidFill>
              </a:rPr>
              <a:t> TS as </a:t>
            </a:r>
            <a:r>
              <a:rPr lang="de-AT" sz="1300" err="1">
                <a:solidFill>
                  <a:srgbClr val="222222"/>
                </a:solidFill>
              </a:rPr>
              <a:t>well</a:t>
            </a:r>
            <a:r>
              <a:rPr lang="de-AT" sz="1300">
                <a:solidFill>
                  <a:srgbClr val="222222"/>
                </a:solidFill>
              </a:rPr>
              <a:t> </a:t>
            </a: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de-AT" sz="1300">
                <a:solidFill>
                  <a:srgbClr val="222222"/>
                </a:solidFill>
              </a:rPr>
              <a:t>It </a:t>
            </a:r>
            <a:r>
              <a:rPr lang="de-AT" sz="1300" err="1">
                <a:solidFill>
                  <a:srgbClr val="222222"/>
                </a:solidFill>
              </a:rPr>
              <a:t>has</a:t>
            </a:r>
            <a:r>
              <a:rPr lang="de-AT" sz="1300">
                <a:solidFill>
                  <a:srgbClr val="222222"/>
                </a:solidFill>
              </a:rPr>
              <a:t> not </a:t>
            </a:r>
            <a:r>
              <a:rPr lang="de-AT" sz="1300" err="1">
                <a:solidFill>
                  <a:srgbClr val="222222"/>
                </a:solidFill>
              </a:rPr>
              <a:t>been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tested</a:t>
            </a:r>
            <a:r>
              <a:rPr lang="de-AT" sz="1300">
                <a:solidFill>
                  <a:srgbClr val="222222"/>
                </a:solidFill>
              </a:rPr>
              <a:t> in the </a:t>
            </a:r>
            <a:r>
              <a:rPr lang="de-AT" sz="1300" err="1">
                <a:solidFill>
                  <a:srgbClr val="222222"/>
                </a:solidFill>
              </a:rPr>
              <a:t>literature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if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that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works</a:t>
            </a:r>
            <a:r>
              <a:rPr lang="de-AT" sz="1300">
                <a:solidFill>
                  <a:srgbClr val="222222"/>
                </a:solidFill>
              </a:rPr>
              <a:t> </a:t>
            </a: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de-AT" sz="1300" b="0" i="0" err="1">
                <a:solidFill>
                  <a:srgbClr val="222222"/>
                </a:solidFill>
              </a:rPr>
              <a:t>We</a:t>
            </a:r>
            <a:r>
              <a:rPr lang="de-AT" sz="1300" b="0" i="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test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if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models</a:t>
            </a:r>
            <a:r>
              <a:rPr lang="de-AT" sz="1300">
                <a:solidFill>
                  <a:srgbClr val="222222"/>
                </a:solidFill>
              </a:rPr>
              <a:t> Uma-S, Uma-M </a:t>
            </a:r>
            <a:r>
              <a:rPr lang="de-AT" sz="1300" err="1">
                <a:solidFill>
                  <a:srgbClr val="222222"/>
                </a:solidFill>
              </a:rPr>
              <a:t>work</a:t>
            </a:r>
            <a:r>
              <a:rPr lang="de-AT" sz="1300">
                <a:solidFill>
                  <a:srgbClr val="222222"/>
                </a:solidFill>
              </a:rPr>
              <a:t> as </a:t>
            </a:r>
            <a:r>
              <a:rPr lang="de-AT" sz="1300" err="1">
                <a:solidFill>
                  <a:srgbClr val="222222"/>
                </a:solidFill>
              </a:rPr>
              <a:t>well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when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locating</a:t>
            </a:r>
            <a:r>
              <a:rPr lang="de-AT" sz="1300">
                <a:solidFill>
                  <a:srgbClr val="222222"/>
                </a:solidFill>
              </a:rPr>
              <a:t> BS TS as </a:t>
            </a:r>
            <a:r>
              <a:rPr lang="de-AT" sz="1300" err="1">
                <a:solidFill>
                  <a:srgbClr val="222222"/>
                </a:solidFill>
              </a:rPr>
              <a:t>they</a:t>
            </a:r>
            <a:r>
              <a:rPr lang="de-AT" sz="1300">
                <a:solidFill>
                  <a:srgbClr val="222222"/>
                </a:solidFill>
              </a:rPr>
              <a:t> do on </a:t>
            </a:r>
            <a:r>
              <a:rPr lang="de-AT" sz="1300" err="1">
                <a:solidFill>
                  <a:srgbClr val="222222"/>
                </a:solidFill>
              </a:rPr>
              <a:t>closed</a:t>
            </a:r>
            <a:r>
              <a:rPr lang="de-AT" sz="1300">
                <a:solidFill>
                  <a:srgbClr val="222222"/>
                </a:solidFill>
              </a:rPr>
              <a:t> </a:t>
            </a:r>
            <a:r>
              <a:rPr lang="de-AT" sz="1300" err="1">
                <a:solidFill>
                  <a:srgbClr val="222222"/>
                </a:solidFill>
              </a:rPr>
              <a:t>shell</a:t>
            </a:r>
            <a:endParaRPr lang="de-AT" sz="1300" b="0" i="0">
              <a:solidFill>
                <a:srgbClr val="222222"/>
              </a:solidFill>
            </a:endParaRPr>
          </a:p>
        </p:txBody>
      </p:sp>
      <p:pic>
        <p:nvPicPr>
          <p:cNvPr id="9" name="Picture 8" descr="pic_table_rq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4409768"/>
            <a:ext cx="2331720" cy="924470"/>
          </a:xfrm>
          <a:prstGeom prst="rect">
            <a:avLst/>
          </a:prstGeom>
        </p:spPr>
      </p:pic>
      <p:pic>
        <p:nvPicPr>
          <p:cNvPr id="10" name="Picture 9" descr="pic_rq2_3d_v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160" y="4181168"/>
            <a:ext cx="2686050" cy="214884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6766560" y="1554480"/>
            <a:ext cx="0" cy="3566160"/>
          </a:xfrm>
          <a:prstGeom prst="line">
            <a:avLst/>
          </a:prstGeom>
          <a:ln w="12700">
            <a:solidFill>
              <a:srgbClr val="D0D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fik 13">
            <a:extLst>
              <a:ext uri="{FF2B5EF4-FFF2-40B4-BE49-F238E27FC236}">
                <a16:creationId xmlns:a16="http://schemas.microsoft.com/office/drawing/2014/main" id="{30E741EC-3668-094A-1CA0-F4340A3091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86065" y="3162691"/>
            <a:ext cx="7894320" cy="223494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E6DA2C-5E02-8DAA-6E58-135691F4F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64C759C-EFF7-F406-3384-CB9BA3249B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714C757-0A9F-BEBB-2DCA-D7F3001C79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87EB997-6E37-E443-DCDD-BEA8C35AB22E}"/>
              </a:ext>
            </a:extLst>
          </p:cNvPr>
          <p:cNvSpPr/>
          <p:nvPr/>
        </p:nvSpPr>
        <p:spPr bwMode="auto">
          <a:xfrm>
            <a:off x="5840361" y="1779639"/>
            <a:ext cx="5132439" cy="3814916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ffffffffff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D9583F4-EE3C-5B76-DFDC-57C926FE2086}"/>
              </a:ext>
            </a:extLst>
          </p:cNvPr>
          <p:cNvSpPr txBox="1"/>
          <p:nvPr/>
        </p:nvSpPr>
        <p:spPr>
          <a:xfrm flipH="1">
            <a:off x="6341806" y="685137"/>
            <a:ext cx="55972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de-AT" b="1"/>
              <a:t>Research </a:t>
            </a:r>
            <a:r>
              <a:rPr lang="de-AT" b="1" err="1"/>
              <a:t>question</a:t>
            </a:r>
            <a:r>
              <a:rPr lang="de-AT" b="1"/>
              <a:t> 2 (RQ2):</a:t>
            </a:r>
            <a:r>
              <a:rPr lang="de-AT"/>
              <a:t> Can a </a:t>
            </a:r>
            <a:r>
              <a:rPr lang="de-AT" err="1"/>
              <a:t>model</a:t>
            </a:r>
            <a:r>
              <a:rPr lang="de-AT"/>
              <a:t> </a:t>
            </a:r>
            <a:r>
              <a:rPr lang="de-AT" err="1"/>
              <a:t>learn</a:t>
            </a:r>
            <a:r>
              <a:rPr lang="de-AT"/>
              <a:t> a </a:t>
            </a:r>
            <a:r>
              <a:rPr lang="de-AT" err="1"/>
              <a:t>surface</a:t>
            </a:r>
            <a:r>
              <a:rPr lang="de-AT"/>
              <a:t> </a:t>
            </a:r>
            <a:r>
              <a:rPr lang="de-AT" err="1"/>
              <a:t>from</a:t>
            </a:r>
            <a:r>
              <a:rPr lang="de-AT"/>
              <a:t> </a:t>
            </a:r>
            <a:r>
              <a:rPr lang="de-AT" err="1"/>
              <a:t>paths</a:t>
            </a:r>
            <a:r>
              <a:rPr lang="de-AT"/>
              <a:t> </a:t>
            </a:r>
            <a:r>
              <a:rPr lang="de-AT" err="1"/>
              <a:t>that</a:t>
            </a:r>
            <a:r>
              <a:rPr lang="de-AT"/>
              <a:t> </a:t>
            </a:r>
            <a:r>
              <a:rPr lang="de-AT" err="1"/>
              <a:t>were</a:t>
            </a:r>
            <a:r>
              <a:rPr lang="de-AT"/>
              <a:t> </a:t>
            </a:r>
            <a:r>
              <a:rPr lang="de-AT" err="1"/>
              <a:t>never</a:t>
            </a:r>
            <a:r>
              <a:rPr lang="de-AT"/>
              <a:t> relaxed on </a:t>
            </a:r>
            <a:r>
              <a:rPr lang="de-AT" err="1"/>
              <a:t>that</a:t>
            </a:r>
            <a:r>
              <a:rPr lang="de-AT"/>
              <a:t> </a:t>
            </a:r>
            <a:r>
              <a:rPr lang="de-AT" err="1"/>
              <a:t>surface</a:t>
            </a:r>
            <a:r>
              <a:rPr lang="de-AT"/>
              <a:t>?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85A63AA-2730-FE01-B5F7-C7BC06A97B3B}"/>
              </a:ext>
            </a:extLst>
          </p:cNvPr>
          <p:cNvSpPr txBox="1"/>
          <p:nvPr/>
        </p:nvSpPr>
        <p:spPr>
          <a:xfrm flipH="1">
            <a:off x="804600" y="685137"/>
            <a:ext cx="52914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de-AT" b="1"/>
              <a:t>Research </a:t>
            </a:r>
            <a:r>
              <a:rPr lang="de-AT" b="1" err="1"/>
              <a:t>question</a:t>
            </a:r>
            <a:r>
              <a:rPr lang="de-AT" b="1"/>
              <a:t> 1 (RQ1):</a:t>
            </a:r>
            <a:r>
              <a:rPr lang="de-AT"/>
              <a:t> Can a </a:t>
            </a:r>
            <a:r>
              <a:rPr lang="de-AT" err="1"/>
              <a:t>model</a:t>
            </a:r>
            <a:r>
              <a:rPr lang="de-AT"/>
              <a:t> </a:t>
            </a:r>
            <a:r>
              <a:rPr lang="de-AT" err="1"/>
              <a:t>be</a:t>
            </a:r>
            <a:r>
              <a:rPr lang="de-AT"/>
              <a:t> </a:t>
            </a:r>
            <a:r>
              <a:rPr lang="de-AT" err="1"/>
              <a:t>lifted</a:t>
            </a:r>
            <a:r>
              <a:rPr lang="de-AT"/>
              <a:t> to a </a:t>
            </a:r>
            <a:r>
              <a:rPr lang="de-AT" err="1"/>
              <a:t>higher</a:t>
            </a:r>
            <a:r>
              <a:rPr lang="de-AT"/>
              <a:t> </a:t>
            </a:r>
            <a:r>
              <a:rPr lang="de-AT" err="1"/>
              <a:t>level</a:t>
            </a:r>
            <a:r>
              <a:rPr lang="de-AT"/>
              <a:t> of </a:t>
            </a:r>
            <a:r>
              <a:rPr lang="de-AT" err="1"/>
              <a:t>theory</a:t>
            </a:r>
            <a:r>
              <a:rPr lang="de-AT"/>
              <a:t> by </a:t>
            </a:r>
            <a:r>
              <a:rPr lang="de-AT" err="1"/>
              <a:t>relabelling</a:t>
            </a:r>
            <a:r>
              <a:rPr lang="de-AT"/>
              <a:t> </a:t>
            </a:r>
            <a:r>
              <a:rPr lang="de-AT" err="1"/>
              <a:t>only</a:t>
            </a:r>
            <a:r>
              <a:rPr lang="de-AT"/>
              <a:t> a </a:t>
            </a:r>
            <a:r>
              <a:rPr lang="de-AT" err="1"/>
              <a:t>subset</a:t>
            </a:r>
            <a:r>
              <a:rPr lang="de-AT"/>
              <a:t> of </a:t>
            </a:r>
            <a:r>
              <a:rPr lang="de-AT" err="1"/>
              <a:t>its</a:t>
            </a:r>
            <a:r>
              <a:rPr lang="de-AT"/>
              <a:t> </a:t>
            </a:r>
            <a:r>
              <a:rPr lang="de-AT" err="1"/>
              <a:t>training</a:t>
            </a:r>
            <a:r>
              <a:rPr lang="de-AT"/>
              <a:t> </a:t>
            </a:r>
            <a:r>
              <a:rPr lang="de-AT" err="1"/>
              <a:t>data</a:t>
            </a:r>
            <a:r>
              <a:rPr lang="de-AT"/>
              <a:t>?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3235F20-F058-B982-4D6C-419CBFBEA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613883"/>
            <a:ext cx="2048346" cy="1638677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A8DD0047-B660-EC4C-26F4-350C55827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82" y="4648246"/>
            <a:ext cx="2185792" cy="174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002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F4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18241E-B923-57EA-6C58-8D3187C29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15274D0-6AA9-B5C1-F876-F07649269387}"/>
              </a:ext>
            </a:extLst>
          </p:cNvPr>
          <p:cNvSpPr/>
          <p:nvPr/>
        </p:nvSpPr>
        <p:spPr>
          <a:xfrm>
            <a:off x="717364" y="952730"/>
            <a:ext cx="4577660" cy="80754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94875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with DTU's PowerPoint templates</a:t>
            </a:r>
            <a:endParaRPr lang="en-GB" sz="28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0DEF21A-0D41-558C-291A-B4052B0C1ABF}"/>
              </a:ext>
            </a:extLst>
          </p:cNvPr>
          <p:cNvSpPr/>
          <p:nvPr/>
        </p:nvSpPr>
        <p:spPr>
          <a:xfrm>
            <a:off x="717364" y="2095582"/>
            <a:ext cx="609429" cy="189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pPr defTabSz="609539" fontAlgn="auto">
              <a:spcBef>
                <a:spcPts val="0"/>
              </a:spcBef>
              <a:spcAft>
                <a:spcPts val="0"/>
              </a:spcAft>
            </a:pPr>
            <a:endParaRPr lang="en-GB" sz="12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5E0740-EB5F-7D40-A9A9-034244C885C6}"/>
              </a:ext>
            </a:extLst>
          </p:cNvPr>
          <p:cNvSpPr/>
          <p:nvPr/>
        </p:nvSpPr>
        <p:spPr>
          <a:xfrm>
            <a:off x="717364" y="2514627"/>
            <a:ext cx="4577660" cy="825393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templates give you DTU's colours, typography and logo from the start. On the right, you will find the material you typically need along the way.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15589C3-794A-6828-DB60-02B43D1D9BF0}"/>
              </a:ext>
            </a:extLst>
          </p:cNvPr>
          <p:cNvSpPr/>
          <p:nvPr/>
        </p:nvSpPr>
        <p:spPr>
          <a:xfrm>
            <a:off x="717364" y="3835256"/>
            <a:ext cx="4577660" cy="558727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questions or special requirements, you are welcome to write to design@dtu.dk/contacts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24AC11C-86B3-E1BF-2C0D-ED01BC0C7FD5}"/>
              </a:ext>
            </a:extLst>
          </p:cNvPr>
          <p:cNvSpPr/>
          <p:nvPr/>
        </p:nvSpPr>
        <p:spPr>
          <a:xfrm>
            <a:off x="717364" y="5079694"/>
            <a:ext cx="609429" cy="12606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lstStyle/>
          <a:p>
            <a:pPr defTabSz="609539" fontAlgn="auto">
              <a:spcBef>
                <a:spcPts val="0"/>
              </a:spcBef>
              <a:spcAft>
                <a:spcPts val="0"/>
              </a:spcAft>
            </a:pPr>
            <a:endParaRPr lang="en-GB" sz="12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8850B06-FA3F-B645-3D88-6D679949E41D}"/>
              </a:ext>
            </a:extLst>
          </p:cNvPr>
          <p:cNvSpPr/>
          <p:nvPr/>
        </p:nvSpPr>
        <p:spPr>
          <a:xfrm>
            <a:off x="717364" y="5333661"/>
            <a:ext cx="4577660" cy="558727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fontScale="92500"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slide is for guidance only. Delete it before you present — so the slide numbers on the other slides are correct.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B8764FF-7DEF-B2F5-5760-28155F5B0BB7}"/>
              </a:ext>
            </a:extLst>
          </p:cNvPr>
          <p:cNvSpPr/>
          <p:nvPr/>
        </p:nvSpPr>
        <p:spPr>
          <a:xfrm>
            <a:off x="5587182" y="787652"/>
            <a:ext cx="12606" cy="5663372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pPr defTabSz="609539" fontAlgn="auto">
              <a:spcBef>
                <a:spcPts val="0"/>
              </a:spcBef>
              <a:spcAft>
                <a:spcPts val="0"/>
              </a:spcAft>
            </a:pPr>
            <a:endParaRPr lang="en-GB" sz="12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C08AA-A3AD-87F2-88C7-3BEE43D793B4}"/>
              </a:ext>
            </a:extLst>
          </p:cNvPr>
          <p:cNvSpPr/>
          <p:nvPr/>
        </p:nvSpPr>
        <p:spPr>
          <a:xfrm>
            <a:off x="6418923" y="764704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 slides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DBDEF72-F78A-D7CF-0E87-8B00EDBD75A1}"/>
              </a:ext>
            </a:extLst>
          </p:cNvPr>
          <p:cNvSpPr/>
          <p:nvPr/>
        </p:nvSpPr>
        <p:spPr>
          <a:xfrm>
            <a:off x="6418923" y="1069464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slide structures you can reuse directly.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871A29A-791A-65E8-F82D-90C3C9786621}"/>
              </a:ext>
            </a:extLst>
          </p:cNvPr>
          <p:cNvSpPr/>
          <p:nvPr/>
        </p:nvSpPr>
        <p:spPr>
          <a:xfrm>
            <a:off x="6418923" y="1348828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Inspiration.potx</a:t>
            </a:r>
            <a:endParaRPr lang="en-GB" sz="1400">
              <a:solidFill>
                <a:schemeClr val="bg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C4FF0A9-623B-D044-F277-4F164504E9F2}"/>
              </a:ext>
            </a:extLst>
          </p:cNvPr>
          <p:cNvSpPr/>
          <p:nvPr/>
        </p:nvSpPr>
        <p:spPr>
          <a:xfrm>
            <a:off x="6418923" y="1916832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bank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0763B80-0E2B-D6DF-EA0A-ED94F31D9E3B}"/>
              </a:ext>
            </a:extLst>
          </p:cNvPr>
          <p:cNvSpPr/>
          <p:nvPr/>
        </p:nvSpPr>
        <p:spPr>
          <a:xfrm>
            <a:off x="6418923" y="2221593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High-resolution photos for your presentations.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C37799E-9A13-086F-C731-BF98D737B35D}"/>
              </a:ext>
            </a:extLst>
          </p:cNvPr>
          <p:cNvSpPr/>
          <p:nvPr/>
        </p:nvSpPr>
        <p:spPr>
          <a:xfrm>
            <a:off x="6418923" y="2500956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18257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bank</a:t>
            </a:r>
            <a:endParaRPr lang="en-GB" sz="1400">
              <a:solidFill>
                <a:schemeClr val="bg1"/>
              </a:solidFill>
              <a:latin typeface="Arial" panose="020F0502020204030204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E599256-6377-8E5B-BB79-2E23CFB5542E}"/>
              </a:ext>
            </a:extLst>
          </p:cNvPr>
          <p:cNvSpPr/>
          <p:nvPr/>
        </p:nvSpPr>
        <p:spPr>
          <a:xfrm>
            <a:off x="6418923" y="2996952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guide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CF7F343-DF73-271F-5FED-C5E23B138224}"/>
              </a:ext>
            </a:extLst>
          </p:cNvPr>
          <p:cNvSpPr/>
          <p:nvPr/>
        </p:nvSpPr>
        <p:spPr>
          <a:xfrm>
            <a:off x="6418923" y="3301712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 behind the templates: logo, colours and typography.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ED7D849-2D1C-C8DC-9511-347F2ACF00E9}"/>
              </a:ext>
            </a:extLst>
          </p:cNvPr>
          <p:cNvSpPr/>
          <p:nvPr/>
        </p:nvSpPr>
        <p:spPr>
          <a:xfrm>
            <a:off x="6418923" y="3581076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Design guide</a:t>
            </a:r>
            <a:endParaRPr lang="en-GB" sz="1400">
              <a:solidFill>
                <a:schemeClr val="bg1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B2AA1CB-66D9-EE42-44DA-23D2D8CCA68A}"/>
              </a:ext>
            </a:extLst>
          </p:cNvPr>
          <p:cNvSpPr/>
          <p:nvPr/>
        </p:nvSpPr>
        <p:spPr>
          <a:xfrm>
            <a:off x="6418923" y="4149080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DTU's font, Neo Sans Pro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AE974C7E-2C01-E76D-A3DF-53A68D0B78D4}"/>
              </a:ext>
            </a:extLst>
          </p:cNvPr>
          <p:cNvSpPr/>
          <p:nvPr/>
        </p:nvSpPr>
        <p:spPr>
          <a:xfrm>
            <a:off x="6418923" y="4453840"/>
            <a:ext cx="5782727" cy="927163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install our font via Company Portal. Note: If you share your presentation with someone who does not have the font installed, the font will be replaced automatically.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7DA4194-BE9B-C8A6-9B9D-36C749F63934}"/>
              </a:ext>
            </a:extLst>
          </p:cNvPr>
          <p:cNvSpPr/>
          <p:nvPr/>
        </p:nvSpPr>
        <p:spPr>
          <a:xfrm>
            <a:off x="6418923" y="5577151"/>
            <a:ext cx="5782727" cy="269150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 lnSpcReduction="10000"/>
          </a:bodyPr>
          <a:lstStyle/>
          <a:p>
            <a:pPr defTabSz="609539" fontAlgn="auto">
              <a:lnSpc>
                <a:spcPct val="106154"/>
              </a:lnSpc>
              <a:spcBef>
                <a:spcPts val="0"/>
              </a:spcBef>
              <a:spcAft>
                <a:spcPts val="0"/>
              </a:spcAft>
            </a:pPr>
            <a:r>
              <a:rPr lang="en-GB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presentation</a:t>
            </a:r>
            <a:endParaRPr lang="en-GB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C09ED90-27B0-2367-9280-064840E6B74A}"/>
              </a:ext>
            </a:extLst>
          </p:cNvPr>
          <p:cNvSpPr/>
          <p:nvPr/>
        </p:nvSpPr>
        <p:spPr>
          <a:xfrm>
            <a:off x="6418923" y="5881911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DTU in facts and figures, with speaker notes for your own presentation.</a:t>
            </a:r>
            <a:endParaRPr lang="en-GB" sz="1400">
              <a:solidFill>
                <a:prstClr val="black"/>
              </a:solidFill>
              <a:latin typeface="Arial" panose="020F0502020204030204"/>
              <a:ea typeface="+mn-ea"/>
            </a:endParaRPr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12A8A147-38E0-8B42-D9D0-DFA6DED40C03}"/>
              </a:ext>
            </a:extLst>
          </p:cNvPr>
          <p:cNvSpPr/>
          <p:nvPr/>
        </p:nvSpPr>
        <p:spPr>
          <a:xfrm>
            <a:off x="6418923" y="6161274"/>
            <a:ext cx="5782727" cy="292062"/>
          </a:xfrm>
          <a:prstGeom prst="rect">
            <a:avLst/>
          </a:prstGeom>
          <a:noFill/>
          <a:ln/>
        </p:spPr>
        <p:txBody>
          <a:bodyPr wrap="square" lIns="16931" tIns="16931" rIns="16931" bIns="16931" rtlCol="0" anchor="t">
            <a:normAutofit/>
          </a:bodyPr>
          <a:lstStyle/>
          <a:p>
            <a:pPr defTabSz="609539" fontAlgn="auto">
              <a:lnSpc>
                <a:spcPct val="13318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140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DTU Inside</a:t>
            </a:r>
            <a:endParaRPr lang="en-GB" sz="1400">
              <a:solidFill>
                <a:schemeClr val="bg1"/>
              </a:solidFill>
              <a:latin typeface="Arial" panose="020F050202020403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48125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3EF6E-BC23-40A0-80D4-1EBE64DC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773079-109A-B151-8254-21CB5885C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392AF83-C1C5-EA17-990E-BCE78DFD3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48651E6-5288-E9EA-033C-38561B210A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6D50FE-753F-D71E-ADC7-1CB7489D15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02F5B4C-1C19-B8C9-2441-FA7A2616301D}"/>
              </a:ext>
            </a:extLst>
          </p:cNvPr>
          <p:cNvSpPr/>
          <p:nvPr/>
        </p:nvSpPr>
        <p:spPr bwMode="auto">
          <a:xfrm>
            <a:off x="5840361" y="1779639"/>
            <a:ext cx="5132439" cy="3814916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err="1">
                <a:ln>
                  <a:noFill/>
                </a:ln>
                <a:solidFill>
                  <a:srgbClr val="FFFFFF"/>
                </a:solidFill>
                <a:effectLst/>
                <a:latin typeface="+mn-lt"/>
                <a:ea typeface="ＭＳ Ｐゴシック" pitchFamily="-80" charset="-128"/>
              </a:rPr>
              <a:t>ffffffffff</a:t>
            </a:r>
            <a:endParaRPr kumimoji="0" lang="de-DE" sz="1600" b="0" i="0" u="none" strike="noStrike" cap="none" normalizeH="0" baseline="0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CACAD87-50B8-BE29-AA20-FF057161AF38}"/>
              </a:ext>
            </a:extLst>
          </p:cNvPr>
          <p:cNvSpPr txBox="1"/>
          <p:nvPr/>
        </p:nvSpPr>
        <p:spPr>
          <a:xfrm flipH="1">
            <a:off x="3746753" y="580864"/>
            <a:ext cx="6733769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de-DE">
                <a:solidFill>
                  <a:srgbClr val="030F4F"/>
                </a:solidFill>
                <a:latin typeface="+mn-lt"/>
              </a:rPr>
              <a:t>How do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we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assign</a:t>
            </a:r>
            <a:r>
              <a:rPr lang="de-DE">
                <a:solidFill>
                  <a:srgbClr val="030F4F"/>
                </a:solidFill>
                <a:latin typeface="+mn-lt"/>
              </a:rPr>
              <a:t> a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given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molecular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geometry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energies</a:t>
            </a:r>
            <a:r>
              <a:rPr lang="de-DE">
                <a:solidFill>
                  <a:srgbClr val="030F4F"/>
                </a:solidFill>
                <a:latin typeface="+mn-lt"/>
              </a:rPr>
              <a:t> and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forces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more</a:t>
            </a:r>
            <a:r>
              <a:rPr lang="de-DE">
                <a:solidFill>
                  <a:srgbClr val="030F4F"/>
                </a:solidFill>
                <a:latin typeface="+mn-lt"/>
              </a:rPr>
              <a:t> </a:t>
            </a:r>
            <a:r>
              <a:rPr lang="de-DE" err="1">
                <a:solidFill>
                  <a:srgbClr val="030F4F"/>
                </a:solidFill>
                <a:latin typeface="+mn-lt"/>
              </a:rPr>
              <a:t>accurately</a:t>
            </a:r>
            <a:endParaRPr lang="de-DE">
              <a:solidFill>
                <a:srgbClr val="030F4F"/>
              </a:solidFill>
              <a:latin typeface="+mn-lt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3B2C11A-2D94-D320-A78B-F5C439C10C9A}"/>
              </a:ext>
            </a:extLst>
          </p:cNvPr>
          <p:cNvSpPr txBox="1"/>
          <p:nvPr/>
        </p:nvSpPr>
        <p:spPr>
          <a:xfrm flipH="1">
            <a:off x="2523367" y="2290746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wB97X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22E0364-0E0E-F2E1-05BE-B858D9046A34}"/>
              </a:ext>
            </a:extLst>
          </p:cNvPr>
          <p:cNvSpPr txBox="1"/>
          <p:nvPr/>
        </p:nvSpPr>
        <p:spPr>
          <a:xfrm flipH="1">
            <a:off x="2559746" y="190036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Transition 1x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6DA11DE-E6F5-A83B-6EA7-76B484EDC6E8}"/>
              </a:ext>
            </a:extLst>
          </p:cNvPr>
          <p:cNvSpPr txBox="1"/>
          <p:nvPr/>
        </p:nvSpPr>
        <p:spPr>
          <a:xfrm flipH="1">
            <a:off x="2559746" y="284524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6-31G(d)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9DF1F54-3E8D-8372-3ABD-8B64C626AD6D}"/>
              </a:ext>
            </a:extLst>
          </p:cNvPr>
          <p:cNvSpPr txBox="1"/>
          <p:nvPr/>
        </p:nvSpPr>
        <p:spPr>
          <a:xfrm flipH="1">
            <a:off x="393379" y="230422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Functional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180DF60-698C-E211-AAF8-259DBADC4894}"/>
              </a:ext>
            </a:extLst>
          </p:cNvPr>
          <p:cNvSpPr txBox="1"/>
          <p:nvPr/>
        </p:nvSpPr>
        <p:spPr>
          <a:xfrm flipH="1">
            <a:off x="393379" y="2845247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Basis set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E9BA3A9-431A-C438-33E8-0A5C85817415}"/>
              </a:ext>
            </a:extLst>
          </p:cNvPr>
          <p:cNvSpPr txBox="1"/>
          <p:nvPr/>
        </p:nvSpPr>
        <p:spPr>
          <a:xfrm flipH="1">
            <a:off x="393379" y="3563986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Spin formalism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85B25C7-E5A0-ED68-0A25-A7C6EA07A15C}"/>
              </a:ext>
            </a:extLst>
          </p:cNvPr>
          <p:cNvSpPr txBox="1"/>
          <p:nvPr/>
        </p:nvSpPr>
        <p:spPr>
          <a:xfrm flipH="1">
            <a:off x="2559746" y="3563986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Unrestricted 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C93F599-50A8-F4A2-937B-737F70F76F7F}"/>
              </a:ext>
            </a:extLst>
          </p:cNvPr>
          <p:cNvSpPr txBox="1"/>
          <p:nvPr/>
        </p:nvSpPr>
        <p:spPr>
          <a:xfrm flipH="1">
            <a:off x="6956486" y="230422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wB97M-V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A64F586-49FE-C7E6-CE76-257B7754D327}"/>
              </a:ext>
            </a:extLst>
          </p:cNvPr>
          <p:cNvSpPr txBox="1"/>
          <p:nvPr/>
        </p:nvSpPr>
        <p:spPr>
          <a:xfrm flipH="1">
            <a:off x="6956486" y="190036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Upgrade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963E0C-C719-C38C-69DA-CFFAD3790CB6}"/>
              </a:ext>
            </a:extLst>
          </p:cNvPr>
          <p:cNvSpPr txBox="1"/>
          <p:nvPr/>
        </p:nvSpPr>
        <p:spPr>
          <a:xfrm flipH="1">
            <a:off x="6956486" y="284524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Def2-TZVP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83E11A6-7384-0DBB-73DE-D2D9236D4819}"/>
              </a:ext>
            </a:extLst>
          </p:cNvPr>
          <p:cNvSpPr txBox="1"/>
          <p:nvPr/>
        </p:nvSpPr>
        <p:spPr>
          <a:xfrm flipH="1">
            <a:off x="6956486" y="3563986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Unrestricted </a:t>
            </a:r>
          </a:p>
        </p:txBody>
      </p:sp>
      <p:sp>
        <p:nvSpPr>
          <p:cNvPr id="19" name="Pfeil: nach rechts 18">
            <a:extLst>
              <a:ext uri="{FF2B5EF4-FFF2-40B4-BE49-F238E27FC236}">
                <a16:creationId xmlns:a16="http://schemas.microsoft.com/office/drawing/2014/main" id="{1BEB746C-FA67-2058-CAA6-4526316AF0AC}"/>
              </a:ext>
            </a:extLst>
          </p:cNvPr>
          <p:cNvSpPr/>
          <p:nvPr/>
        </p:nvSpPr>
        <p:spPr bwMode="auto">
          <a:xfrm>
            <a:off x="4679049" y="2589907"/>
            <a:ext cx="1565541" cy="775455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accent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1600" b="0" i="0" u="none" strike="noStrike" cap="none" normalizeH="0" baseline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E6FEC1A-A83F-8181-6BB7-1E7836BECD54}"/>
              </a:ext>
            </a:extLst>
          </p:cNvPr>
          <p:cNvSpPr txBox="1"/>
          <p:nvPr/>
        </p:nvSpPr>
        <p:spPr>
          <a:xfrm flipH="1">
            <a:off x="4653354" y="230422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Higher Cost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180B2CDD-A581-303B-00E2-5DAD6BF7E742}"/>
              </a:ext>
            </a:extLst>
          </p:cNvPr>
          <p:cNvSpPr txBox="1"/>
          <p:nvPr/>
        </p:nvSpPr>
        <p:spPr>
          <a:xfrm flipH="1">
            <a:off x="4653354" y="3423048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Higher Accuracy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B7A04D6B-2B25-20F1-B95A-A2DBE8E27461}"/>
              </a:ext>
            </a:extLst>
          </p:cNvPr>
          <p:cNvSpPr txBox="1"/>
          <p:nvPr/>
        </p:nvSpPr>
        <p:spPr>
          <a:xfrm flipH="1">
            <a:off x="2559746" y="4613194"/>
            <a:ext cx="335337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Any change gives more accurate calculations and can be used to achieve a higher </a:t>
            </a:r>
            <a:r>
              <a:rPr lang="en-US" err="1">
                <a:solidFill>
                  <a:srgbClr val="030F4F"/>
                </a:solidFill>
                <a:latin typeface="+mn-lt"/>
              </a:rPr>
              <a:t>accurace</a:t>
            </a:r>
            <a:r>
              <a:rPr lang="en-US">
                <a:solidFill>
                  <a:srgbClr val="030F4F"/>
                </a:solidFill>
                <a:latin typeface="+mn-lt"/>
              </a:rPr>
              <a:t> model </a:t>
            </a:r>
          </a:p>
        </p:txBody>
      </p: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24B21CE5-BD7D-D77D-5B1B-940346A7DF1B}"/>
              </a:ext>
            </a:extLst>
          </p:cNvPr>
          <p:cNvSpPr/>
          <p:nvPr/>
        </p:nvSpPr>
        <p:spPr bwMode="auto">
          <a:xfrm>
            <a:off x="9417112" y="1984692"/>
            <a:ext cx="430284" cy="1380670"/>
          </a:xfrm>
          <a:prstGeom prst="rightBrac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DB09397-75EB-635A-926F-E14B30D24D3D}"/>
              </a:ext>
            </a:extLst>
          </p:cNvPr>
          <p:cNvSpPr txBox="1"/>
          <p:nvPr/>
        </p:nvSpPr>
        <p:spPr>
          <a:xfrm flipH="1">
            <a:off x="10309860" y="2529795"/>
            <a:ext cx="335337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>
                <a:solidFill>
                  <a:srgbClr val="030F4F"/>
                </a:solidFill>
                <a:latin typeface="+mn-lt"/>
              </a:rPr>
              <a:t>Level of theory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88D79BE6-D8E1-7B1A-6DE3-C98858C102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746" y="1991587"/>
            <a:ext cx="12192000" cy="443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225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C1393C32-4593-A727-A772-60975780A8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3" name="Subtitle 22">
            <a:extLst>
              <a:ext uri="{FF2B5EF4-FFF2-40B4-BE49-F238E27FC236}">
                <a16:creationId xmlns:a16="http://schemas.microsoft.com/office/drawing/2014/main" id="{2A505916-C26B-4D8F-DD23-7BF9A136D3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6450" y="6541200"/>
            <a:ext cx="432600" cy="316800"/>
          </a:xfrm>
        </p:spPr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A068D229-C10D-E6D4-5477-85C69A8B19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00" y="6541200"/>
            <a:ext cx="1105200" cy="316800"/>
          </a:xfrm>
        </p:spPr>
        <p:txBody>
          <a:bodyPr/>
          <a:lstStyle/>
          <a:p>
            <a:fld id="{9F1F7C4A-2B31-4E5D-9C10-7A0E4B6D2F88}" type="datetime1">
              <a:rPr lang="en-GB"/>
              <a:t>29/09/2026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071413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 Navy Blue">
      <a:dk1>
        <a:srgbClr val="000000"/>
      </a:dk1>
      <a:lt1>
        <a:srgbClr val="FFFFFF"/>
      </a:lt1>
      <a:dk2>
        <a:srgbClr val="030F4F"/>
      </a:dk2>
      <a:lt2>
        <a:srgbClr val="79238E"/>
      </a:lt2>
      <a:accent1>
        <a:srgbClr val="030F4F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030F4F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Red_doorporate_DK_.potx" id="{53DCBCD5-389E-4100-85BE-9D9F91FE8BB7}" vid="{92762ABB-E8FB-4BCC-9C0C-8FD908B1C88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8D6C75AF088E64D81568A8B01D3543A" ma:contentTypeVersion="3" ma:contentTypeDescription="Opret et nyt dokument." ma:contentTypeScope="" ma:versionID="abaf2ebb8a9c0abb74fa9b245ca49ec0">
  <xsd:schema xmlns:xsd="http://www.w3.org/2001/XMLSchema" xmlns:xs="http://www.w3.org/2001/XMLSchema" xmlns:p="http://schemas.microsoft.com/office/2006/metadata/properties" xmlns:ns2="e3402ab9-617f-49e1-8114-b95708a9ff16" targetNamespace="http://schemas.microsoft.com/office/2006/metadata/properties" ma:root="true" ma:fieldsID="ba2fc3036111fa597f1675b7c1fd69ca" ns2:_="">
    <xsd:import namespace="e3402ab9-617f-49e1-8114-b95708a9ff1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402ab9-617f-49e1-8114-b95708a9ff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FAA86A3-D07C-4999-80B6-325F774CCE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CA90C78-15B1-419F-82E5-441058ED950B}">
  <ds:schemaRefs>
    <ds:schemaRef ds:uri="e3402ab9-617f-49e1-8114-b95708a9ff1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5F20C36-75B9-412C-984C-BB0C68788AE9}">
  <ds:schemaRefs>
    <ds:schemaRef ds:uri="e3402ab9-617f-49e1-8114-b95708a9ff1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Template 16_9 - Navy Blue EN</Template>
  <TotalTime>0</TotalTime>
  <Application>Microsoft Office PowerPoint</Application>
  <PresentationFormat>Breitbild</PresentationFormat>
  <Slides>12</Slides>
  <Notes>9</Notes>
  <HiddenSlides>3</HiddenSlide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3" baseType="lpstr">
      <vt:lpstr>Blank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Two ways to relabel Transition1x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Benedikt Pabinger</dc:creator>
  <cp:revision>3</cp:revision>
  <dcterms:created xsi:type="dcterms:W3CDTF">2026-09-26T12:01:38Z</dcterms:created>
  <dcterms:modified xsi:type="dcterms:W3CDTF">2026-09-29T12:28:47Z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0x010100B8D6C75AF088E64D81568A8B01D3543A</vt:lpwstr>
  </property>
</Properties>
</file>