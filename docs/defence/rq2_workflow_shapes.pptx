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4"/>
  </p:sldMasterIdLst>
  <p:notesMasterIdLst>
    <p:notesMasterId r:id="rId9"/>
  </p:notesMasterIdLst>
  <p:handoutMasterIdLst>
    <p:handoutMasterId r:id="rId10"/>
  </p:handoutMasterIdLst>
  <p:sldIdLst>
    <p:sldId id="256" r:id="rId8"/>
  </p:sldIdLst>
  <p:sldSz cx="12192000" cy="6858000"/>
  <p:notesSz cx="6858000" cy="9144000"/>
  <p:defaultTextStyle>
    <a:defPPr>
      <a:defRPr lang="en-GB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5" autoAdjust="0"/>
    <p:restoredTop sz="81797" autoAdjust="0"/>
  </p:normalViewPr>
  <p:slideViewPr>
    <p:cSldViewPr showGuides="1">
      <p:cViewPr varScale="1">
        <p:scale>
          <a:sx n="60" d="100"/>
          <a:sy n="60" d="100"/>
        </p:scale>
        <p:origin x="1327" y="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en-GB" smtClean="0">
                <a:latin typeface="Arial" panose="020B0604020202020204" pitchFamily="34" charset="0"/>
              </a:rPr>
              <a:pPr/>
              <a:t>‹#›</a:t>
            </a:fld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 err="1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030F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8E75EC-EF76-589D-0066-5EFD3256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B2228E-DECD-A1FF-31EB-394A357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75E03-BE23-9277-8686-60549E4E73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33A1D-DD6A-46E6-9477-D1471332CB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030F4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030F4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030F4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030F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13676" name="text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RQ2 – how the models are tested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4672" y="1658721"/>
            <a:ext cx="3017520" cy="1207008"/>
          </a:xfrm>
          <a:prstGeom prst="roundRect">
            <a:avLst>
              <a:gd name="adj" fmla="val 8000"/>
            </a:avLst>
          </a:prstGeom>
          <a:solidFill>
            <a:srgbClr val="ECECEF"/>
          </a:solidFill>
          <a:ln w="19050">
            <a:solidFill>
              <a:srgbClr val="8C8C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</a:rPr>
              <a:t>45 reactions</a:t>
            </a:r>
          </a:p>
          <a:p>
            <a:pPr algn="ctr"/>
            <a:r>
              <a:rPr sz="1000">
                <a:solidFill>
                  <a:srgbClr val="222222"/>
                </a:solidFill>
              </a:rPr>
              <a:t>Transition1x test split</a:t>
            </a:r>
          </a:p>
          <a:p>
            <a:pPr algn="ctr"/>
            <a:r>
              <a:rPr sz="1000">
                <a:solidFill>
                  <a:srgbClr val="222222"/>
                </a:solidFill>
              </a:rPr>
              <a:t>ranked by N_FOD: low, mid, high MR</a:t>
            </a:r>
          </a:p>
          <a:p>
            <a:pPr algn="ctr"/>
            <a:r>
              <a:rPr sz="1000">
                <a:solidFill>
                  <a:srgbClr val="222222"/>
                </a:solidFill>
              </a:rPr>
              <a:t>no unrestricted reference exists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22191" y="2262225"/>
            <a:ext cx="603505" cy="0"/>
          </a:xfrm>
          <a:prstGeom prst="line">
            <a:avLst/>
          </a:prstGeom>
          <a:ln w="25400">
            <a:solidFill>
              <a:srgbClr val="6F6F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425696" y="1658721"/>
            <a:ext cx="3218688" cy="1207008"/>
          </a:xfrm>
          <a:prstGeom prst="roundRect">
            <a:avLst>
              <a:gd name="adj" fmla="val 8000"/>
            </a:avLst>
          </a:prstGeom>
          <a:solidFill>
            <a:srgbClr val="ECECEF"/>
          </a:solidFill>
          <a:ln w="19050">
            <a:solidFill>
              <a:srgbClr val="8C8C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</a:rPr>
              <a:t>3 OMol25 models search</a:t>
            </a:r>
          </a:p>
          <a:p>
            <a:pPr algn="ctr"/>
            <a:r>
              <a:rPr sz="1000">
                <a:solidFill>
                  <a:srgbClr val="222222"/>
                </a:solidFill>
              </a:rPr>
              <a:t>UMA-S, UMA-M, eSEN, as released</a:t>
            </a:r>
          </a:p>
          <a:p>
            <a:pPr algn="ctr"/>
            <a:r>
              <a:rPr sz="1000">
                <a:solidFill>
                  <a:srgbClr val="222222"/>
                </a:solidFill>
              </a:rPr>
              <a:t>relax endpoints, CI-NEB</a:t>
            </a:r>
          </a:p>
          <a:p>
            <a:pPr algn="ctr"/>
            <a:r>
              <a:rPr sz="1000">
                <a:solidFill>
                  <a:srgbClr val="222222"/>
                </a:solidFill>
              </a:rPr>
              <a:t>same settings as the DFT reference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644384" y="2262225"/>
            <a:ext cx="603504" cy="0"/>
          </a:xfrm>
          <a:prstGeom prst="line">
            <a:avLst/>
          </a:prstGeom>
          <a:ln w="25400">
            <a:solidFill>
              <a:srgbClr val="6F6F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47888" y="1658721"/>
            <a:ext cx="3017520" cy="1207008"/>
          </a:xfrm>
          <a:prstGeom prst="roundRect">
            <a:avLst>
              <a:gd name="adj" fmla="val 8000"/>
            </a:avLst>
          </a:prstGeom>
          <a:solidFill>
            <a:srgbClr val="ECECEF"/>
          </a:solidFill>
          <a:ln w="19050">
            <a:solidFill>
              <a:srgbClr val="8C8C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</a:rPr>
              <a:t>135 transition states</a:t>
            </a:r>
          </a:p>
          <a:p>
            <a:pPr algn="ctr"/>
            <a:r>
              <a:rPr sz="1000">
                <a:solidFill>
                  <a:srgbClr val="222222"/>
                </a:solidFill>
              </a:rPr>
              <a:t>one per model and reaction</a:t>
            </a:r>
          </a:p>
          <a:p>
            <a:pPr algn="ctr"/>
            <a:r>
              <a:rPr sz="1000">
                <a:solidFill>
                  <a:srgbClr val="222222"/>
                </a:solidFill>
              </a:rPr>
              <a:t>the workflow reports success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756648" y="2865729"/>
            <a:ext cx="0" cy="523037"/>
          </a:xfrm>
          <a:prstGeom prst="line">
            <a:avLst/>
          </a:prstGeom>
          <a:ln w="25400">
            <a:solidFill>
              <a:srgbClr val="6F6F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25696" y="3388766"/>
            <a:ext cx="6839712" cy="1207008"/>
          </a:xfrm>
          <a:prstGeom prst="roundRect">
            <a:avLst>
              <a:gd name="adj" fmla="val 8000"/>
            </a:avLst>
          </a:prstGeom>
          <a:solidFill>
            <a:srgbClr val="FBE7D6"/>
          </a:solidFill>
          <a:ln w="19050">
            <a:solidFill>
              <a:srgbClr val="E07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</a:rPr>
              <a:t>one DFT single point at each, OMol25 protocol</a:t>
            </a:r>
          </a:p>
          <a:p>
            <a:pPr algn="ctr"/>
            <a:r>
              <a:rPr sz="1000">
                <a:solidFill>
                  <a:srgbClr val="222222"/>
                </a:solidFill>
              </a:rPr>
              <a:t>ωB97M-V/def2-TZVPD, unrestricted, plus a stability analysis</a:t>
            </a:r>
          </a:p>
          <a:p>
            <a:pPr algn="ctr"/>
            <a:r>
              <a:rPr sz="1000">
                <a:solidFill>
                  <a:srgbClr val="222222"/>
                </a:solidFill>
              </a:rPr>
              <a:t>no optimisation: the structure is judged where the model left 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1828" y="4595774"/>
            <a:ext cx="0" cy="402336"/>
          </a:xfrm>
          <a:prstGeom prst="line">
            <a:avLst/>
          </a:prstGeom>
          <a:ln w="25400">
            <a:solidFill>
              <a:srgbClr val="6F6F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25696" y="4998110"/>
            <a:ext cx="2112264" cy="112654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9050">
            <a:solidFill>
              <a:srgbClr val="B8B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22222"/>
                </a:solidFill>
              </a:rPr>
              <a:t>residual force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largest force component on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the unrestricted surface: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is it a stationary point?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95260" y="4595774"/>
            <a:ext cx="0" cy="402336"/>
          </a:xfrm>
          <a:prstGeom prst="line">
            <a:avLst/>
          </a:prstGeom>
          <a:ln w="25400">
            <a:solidFill>
              <a:srgbClr val="6F6F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39127" y="4998110"/>
            <a:ext cx="2112264" cy="112654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9050">
            <a:solidFill>
              <a:srgbClr val="B8B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22222"/>
                </a:solidFill>
              </a:rPr>
              <a:t>energy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the barrier the model found;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the model's own energy and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force error at the point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108692" y="4595774"/>
            <a:ext cx="0" cy="402336"/>
          </a:xfrm>
          <a:prstGeom prst="line">
            <a:avLst/>
          </a:prstGeom>
          <a:ln w="25400">
            <a:solidFill>
              <a:srgbClr val="6F6F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52560" y="4998110"/>
            <a:ext cx="2112264" cy="112654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9050">
            <a:solidFill>
              <a:srgbClr val="B8B8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22222"/>
                </a:solidFill>
              </a:rPr>
              <a:t>⟨S²⟩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0: closed-shell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&gt; 0: broken-symmetry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82 / 53 structures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3388766"/>
            <a:ext cx="3017520" cy="27358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731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0731F"/>
                </a:solidFill>
              </a:rPr>
              <a:t>the test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same metrics on both groups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/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closed-shell: the surfaces coincide,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the models are on home ground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/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broken-symmetry: the unrestricted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surface has its own transition state,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no training geometry sat on it</a:t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/>
            </a:r>
          </a:p>
          <a:p>
            <a:pPr algn="ctr"/>
            <a:r>
              <a:rPr sz="950">
                <a:solidFill>
                  <a:srgbClr val="222222"/>
                </a:solidFill>
              </a:rPr>
              <a:t>do the models do as well there?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872484" y="5561380"/>
            <a:ext cx="553212" cy="0"/>
          </a:xfrm>
          <a:prstGeom prst="line">
            <a:avLst/>
          </a:prstGeom>
          <a:ln w="25400">
            <a:solidFill>
              <a:srgbClr val="E073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 Navy Blue">
      <a:dk1>
        <a:srgbClr val="000000"/>
      </a:dk1>
      <a:lt1>
        <a:srgbClr val="FFFFFF"/>
      </a:lt1>
      <a:dk2>
        <a:srgbClr val="030F4F"/>
      </a:dk2>
      <a:lt2>
        <a:srgbClr val="79238E"/>
      </a:lt2>
      <a:accent1>
        <a:srgbClr val="030F4F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030F4F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ed_doorporate_DK_.potx" id="{53DCBCD5-389E-4100-85BE-9D9F91FE8BB7}" vid="{92762ABB-E8FB-4BCC-9C0C-8FD908B1C889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6" ma:contentTypeDescription="Create a new document." ma:contentTypeScope="" ma:versionID="cccb3bc81e691d516a767b109d3cd329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ccfcd265b5d4dee778a0ee10ef25187c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15bde23-c48d-41ea-a697-dffaa8fbae8d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261DAC-624D-4DA1-960A-3A3253F019BF}"/>
</file>

<file path=customXml/itemProps2.xml><?xml version="1.0" encoding="utf-8"?>
<ds:datastoreItem xmlns:ds="http://schemas.openxmlformats.org/officeDocument/2006/customXml" ds:itemID="{55F20C36-75B9-412C-984C-BB0C68788AE9}">
  <ds:schemaRefs>
    <ds:schemaRef ds:uri="http://schemas.microsoft.com/office/2006/metadata/properties"/>
    <ds:schemaRef ds:uri="http://schemas.microsoft.com/office/infopath/2007/PartnerControls"/>
    <ds:schemaRef ds:uri="715bde23-c48d-41ea-a697-dffaa8fbae8d"/>
  </ds:schemaRefs>
</ds:datastoreItem>
</file>

<file path=customXml/itemProps3.xml><?xml version="1.0" encoding="utf-8"?>
<ds:datastoreItem xmlns:ds="http://schemas.openxmlformats.org/officeDocument/2006/customXml" ds:itemID="{FFAA86A3-D07C-4999-80B6-325F774CCE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201</Words>
  <Application>Microsoft Office PowerPoint</Application>
  <PresentationFormat>Widescreen</PresentationFormat>
  <Paragraphs>26</Paragraphs>
  <Slides>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Verdana</vt:lpstr>
      <vt:lpstr>Blank</vt:lpstr>
      <vt:lpstr>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DTU</dc:creator>
  <cp:lastModifiedBy>DTU</cp:lastModifiedBy>
  <cp:revision>1</cp:revision>
  <dcterms:created xsi:type="dcterms:W3CDTF">2026-09-22T13:08:17Z</dcterms:created>
  <dcterms:modified xsi:type="dcterms:W3CDTF">2026-09-24T08:01:23Z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0x0101009ADA1FD2B40FDA458284BB6FCA763489</vt:lpwstr>
  </property>
</Properties>
</file>